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6"/>
  </p:notesMasterIdLst>
  <p:sldIdLst>
    <p:sldId id="256" r:id="rId2"/>
    <p:sldId id="257" r:id="rId3"/>
    <p:sldId id="259" r:id="rId4"/>
    <p:sldId id="260" r:id="rId5"/>
    <p:sldId id="262" r:id="rId6"/>
    <p:sldId id="263" r:id="rId7"/>
    <p:sldId id="266" r:id="rId8"/>
    <p:sldId id="264" r:id="rId9"/>
    <p:sldId id="268" r:id="rId10"/>
    <p:sldId id="269" r:id="rId11"/>
    <p:sldId id="270" r:id="rId12"/>
    <p:sldId id="271" r:id="rId13"/>
    <p:sldId id="265" r:id="rId14"/>
    <p:sldId id="267" r:id="rId1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6E4F8A"/>
    <a:srgbClr val="6600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>
        <p:scale>
          <a:sx n="98" d="100"/>
          <a:sy n="98" d="100"/>
        </p:scale>
        <p:origin x="1074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B529467-8579-4FA0-8669-C9CFBABA9C31}" type="datetimeFigureOut">
              <a:rPr lang="en-US" smtClean="0"/>
              <a:t>12/24/2025</a:t>
            </a:fld>
            <a:endParaRPr lang="en-US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7D7D573-0EE4-4C3A-88EF-224C1F95AF32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410471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F094398-97E2-52C6-9F0B-800C13A77EB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95EED938-CD58-C48A-E901-57759BF04D6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  <a:endParaRPr lang="en-US"/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08BED22D-C697-CBF2-589D-7962819A52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80E58C-7D0A-4DCB-B57B-A443E264A768}" type="datetime1">
              <a:rPr lang="en-US" smtClean="0"/>
              <a:t>12/24/2025</a:t>
            </a:fld>
            <a:endParaRPr lang="en-US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4D6E4E91-A0D5-217F-12D8-8803FA26C0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BF740558-9399-C016-4204-73C0539FB2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B5B39C-3780-455C-80CA-14351220CBC6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1144117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4D85D67-D9D5-36E7-63D5-7BB57D7490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2959729D-2418-F2E0-5FA7-89EF11D923B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D7745FD4-F2F2-A9A6-C734-AD47ADB757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3A27A5-40BD-415A-BF23-4B69539A0572}" type="datetime1">
              <a:rPr lang="en-US" smtClean="0"/>
              <a:t>12/24/2025</a:t>
            </a:fld>
            <a:endParaRPr lang="en-US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23E97038-EE39-4AAA-92FE-20E3F335B4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5D31B090-ADC6-2612-1660-F3CD60949C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B5B39C-3780-455C-80CA-14351220CBC6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1424871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9995055-298D-4D7F-E9E8-262F699BC8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215CF964-D810-1714-25A2-C81DA382C54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78898F54-375C-AA29-32BA-0620F262FF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72BDFC-7B55-406A-B5D7-AC65E7DE3A6E}" type="datetime1">
              <a:rPr lang="en-US" smtClean="0"/>
              <a:t>12/24/2025</a:t>
            </a:fld>
            <a:endParaRPr lang="en-US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A1058036-D3BE-2FB1-806C-68CE566E62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DD7ECD48-2DE3-A34F-975B-EB8B1A5AE3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B5B39C-3780-455C-80CA-14351220CBC6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3808795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3488DCE-7282-FBFB-B444-A5C4707DBA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022EC483-F543-6557-9C80-5C95591F0E9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546D0137-77A0-82EB-D031-178EE6BB685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561A195B-4A57-BD5E-4A6F-217DB31B6D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0955DF-5092-435A-8356-53F36D338F9B}" type="datetime1">
              <a:rPr lang="en-US" smtClean="0"/>
              <a:t>12/24/2025</a:t>
            </a:fld>
            <a:endParaRPr lang="en-US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13FD7210-6D57-FD5C-54A8-181EA60DA7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FEB8C8AC-D518-2451-8CCD-4EC638D3FA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B5B39C-3780-455C-80CA-14351220CBC6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885878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2F43773-C553-9C1C-1503-473A00C396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2721B76D-619F-F345-6EC1-A4B6E927E8B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16D67093-0ACC-E07F-9FF7-A28E85B9469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id="{98C397D8-7EC5-FD6F-B784-8379CE3430D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88A7895A-B285-A641-0D0E-C96913AA4DA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7" name="Espaço Reservado para Data 6">
            <a:extLst>
              <a:ext uri="{FF2B5EF4-FFF2-40B4-BE49-F238E27FC236}">
                <a16:creationId xmlns:a16="http://schemas.microsoft.com/office/drawing/2014/main" id="{40745A42-EABA-5F50-7972-07CC8C7693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47FD32-A186-445C-BBAD-F11C8740C465}" type="datetime1">
              <a:rPr lang="en-US" smtClean="0"/>
              <a:t>12/24/2025</a:t>
            </a:fld>
            <a:endParaRPr lang="en-US"/>
          </a:p>
        </p:txBody>
      </p:sp>
      <p:sp>
        <p:nvSpPr>
          <p:cNvPr id="8" name="Espaço Reservado para Rodapé 7">
            <a:extLst>
              <a:ext uri="{FF2B5EF4-FFF2-40B4-BE49-F238E27FC236}">
                <a16:creationId xmlns:a16="http://schemas.microsoft.com/office/drawing/2014/main" id="{EF285213-08EF-1BA7-4C81-23860FDA2B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Espaço Reservado para Número de Slide 8">
            <a:extLst>
              <a:ext uri="{FF2B5EF4-FFF2-40B4-BE49-F238E27FC236}">
                <a16:creationId xmlns:a16="http://schemas.microsoft.com/office/drawing/2014/main" id="{5B466E2D-448B-2E34-907C-A0E6E72BD1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B5B39C-3780-455C-80CA-14351220CBC6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7021341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7809425-A5CA-51C6-0E24-A416FA074A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id="{81288CCD-AD87-9068-971C-C75A11541C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BEF75D-20B9-4B8B-8A0F-815FE4C30389}" type="datetime1">
              <a:rPr lang="en-US" smtClean="0"/>
              <a:t>12/24/2025</a:t>
            </a:fld>
            <a:endParaRPr lang="en-US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id="{E41B7D4F-1F98-F500-4823-4E3D150818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273886CE-9B0B-B1DC-32E8-FA1B822BDF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B5B39C-3780-455C-80CA-14351220CBC6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950201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>
            <a:extLst>
              <a:ext uri="{FF2B5EF4-FFF2-40B4-BE49-F238E27FC236}">
                <a16:creationId xmlns:a16="http://schemas.microsoft.com/office/drawing/2014/main" id="{F8C47CED-790B-84D4-2FEA-F8B103CF98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14DE1A-19C8-417E-A525-6AABF6C474FE}" type="datetime1">
              <a:rPr lang="en-US" smtClean="0"/>
              <a:t>12/24/2025</a:t>
            </a:fld>
            <a:endParaRPr lang="en-US"/>
          </a:p>
        </p:txBody>
      </p:sp>
      <p:sp>
        <p:nvSpPr>
          <p:cNvPr id="3" name="Espaço Reservado para Rodapé 2">
            <a:extLst>
              <a:ext uri="{FF2B5EF4-FFF2-40B4-BE49-F238E27FC236}">
                <a16:creationId xmlns:a16="http://schemas.microsoft.com/office/drawing/2014/main" id="{858B6E0E-A473-0745-EC36-0634AE6710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EBC9E85F-4324-75D1-CDF3-04D534D097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B5B39C-3780-455C-80CA-14351220CBC6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510766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3A1AAB6-4814-4495-1499-B90EEA10F1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5314C59E-6762-5981-BD5F-F2011157D48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503D3FF2-E62F-91D7-6124-AFF4C8792CA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F9EACE81-6631-83FB-7071-C78DD6C8C9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5BCFDB-D55B-43A4-96B1-1819A1BFD488}" type="datetime1">
              <a:rPr lang="en-US" smtClean="0"/>
              <a:t>12/24/2025</a:t>
            </a:fld>
            <a:endParaRPr lang="en-US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7DF9EDA0-18AA-DD19-98C4-BDE83DCDFF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07BF3CAB-B5C3-4EFF-07CF-6AA87718AF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B5B39C-3780-455C-80CA-14351220CBC6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58749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AD8A623-FEFE-8E49-AB9F-147D72727A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Espaço Reservado para Imagem 2">
            <a:extLst>
              <a:ext uri="{FF2B5EF4-FFF2-40B4-BE49-F238E27FC236}">
                <a16:creationId xmlns:a16="http://schemas.microsoft.com/office/drawing/2014/main" id="{CEAC5AAE-980C-2B56-E920-AA882ACEB05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AC89EEAF-39EF-5488-CA9C-532E2E68BB5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4424F6A6-66EC-7BD4-C16E-FE3E1575A1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B4FAD9-7B10-4DDA-B862-4403C3EF85BA}" type="datetime1">
              <a:rPr lang="en-US" smtClean="0"/>
              <a:t>12/24/2025</a:t>
            </a:fld>
            <a:endParaRPr lang="en-US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67A4676F-799D-CCE6-E9CE-D312BC3808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CB1858E4-ECDD-5926-BF61-A870928293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B5B39C-3780-455C-80CA-14351220CBC6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76888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1202DC5-3885-4A91-BA52-8CD77359DF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CD0A5593-856D-8632-22AF-6ABD269E4D8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3244EFDC-45DB-974C-F440-888A7BF31A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CAB9D2-FAD5-4B84-8204-D913C64D43B0}" type="datetime1">
              <a:rPr lang="en-US" smtClean="0"/>
              <a:t>12/24/2025</a:t>
            </a:fld>
            <a:endParaRPr lang="en-US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972400D6-7ADC-8551-0B84-A8BA589C6D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C1C06E74-BFF4-021F-F64D-2401AEA38A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B5B39C-3780-455C-80CA-14351220CBC6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565492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3D53D80F-1716-46BC-EF06-4C5132348D2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25AFD786-4D59-CC81-78B2-FA4814427BF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B3AD2FFF-374F-335D-E82E-598C4C20ED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0721C3-F5C8-40D1-B84E-588D1A29565B}" type="datetime1">
              <a:rPr lang="en-US" smtClean="0"/>
              <a:t>12/24/2025</a:t>
            </a:fld>
            <a:endParaRPr lang="en-US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156EBBF5-30B6-0E2A-985F-70361B08D3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832E6C06-A6E4-A0B5-8117-01FA707D66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B5B39C-3780-455C-80CA-14351220CBC6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4315319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>
            <a:extLst>
              <a:ext uri="{FF2B5EF4-FFF2-40B4-BE49-F238E27FC236}">
                <a16:creationId xmlns:a16="http://schemas.microsoft.com/office/drawing/2014/main" id="{D750728F-27C0-5C6E-5379-20354DCCA1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9FE8A31E-F870-2697-FDFA-74D6E6B0496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06C20903-868C-F68B-55E6-16DF738E556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811B9A6-A462-4F44-8586-F7218A54EFA3}" type="datetime1">
              <a:rPr lang="en-US" smtClean="0"/>
              <a:t>12/24/2025</a:t>
            </a:fld>
            <a:endParaRPr lang="en-US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D264AA42-10BD-E61D-041E-EDDEB124DE3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01B29B17-0098-6FD0-1091-D537D647260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9B5B39C-3780-455C-80CA-14351220CBC6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643791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cran.r-project.org/bin/windows/base/" TargetMode="Externa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cran.r-project.org/bin/windows/base/" TargetMode="Externa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posit.co/download/rstudio-desktop/" TargetMode="External"/><Relationship Id="rId4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2A2305B-4E99-C734-6B9E-C22991EF5486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pt-BR" b="1" dirty="0">
                <a:solidFill>
                  <a:srgbClr val="6E4F8A"/>
                </a:solidFill>
              </a:rPr>
              <a:t>Configurando o ambiente R e GitHub</a:t>
            </a:r>
            <a:endParaRPr lang="en-US" b="1" dirty="0">
              <a:solidFill>
                <a:srgbClr val="6E4F8A"/>
              </a:solidFill>
            </a:endParaRP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8C896DB1-EDD5-85FD-99BD-98C19D566910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pt-BR" dirty="0"/>
              <a:t>Curso:</a:t>
            </a:r>
            <a:br>
              <a:rPr lang="pt-BR" dirty="0"/>
            </a:br>
            <a:r>
              <a:rPr lang="pt-BR" b="1" dirty="0"/>
              <a:t>Introdução à manejo, visualização e análise de dados com R</a:t>
            </a:r>
            <a:endParaRPr lang="en-US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A7DEB418-9C1C-A5C0-F0E5-47CD45E58B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B5B39C-3780-455C-80CA-14351220CBC6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432102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19A1354-F76C-5B49-0D6F-7FCB6F9D85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5523271" cy="931739"/>
          </a:xfrm>
        </p:spPr>
        <p:txBody>
          <a:bodyPr/>
          <a:lstStyle/>
          <a:p>
            <a:r>
              <a:rPr lang="en-US" b="1" dirty="0" err="1">
                <a:solidFill>
                  <a:srgbClr val="6E4F8A"/>
                </a:solidFill>
              </a:rPr>
              <a:t>Baixando</a:t>
            </a:r>
            <a:r>
              <a:rPr lang="en-US" b="1" dirty="0">
                <a:solidFill>
                  <a:srgbClr val="6E4F8A"/>
                </a:solidFill>
              </a:rPr>
              <a:t> R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CE7AFA76-9A6D-A173-0603-A724F1527FD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75303" y="5213386"/>
            <a:ext cx="4589206" cy="39595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1400" dirty="0">
                <a:hlinkClick r:id="rId2"/>
              </a:rPr>
              <a:t>https://cran.r-project.org/bin/windows/base/</a:t>
            </a:r>
            <a:endParaRPr lang="en-US" sz="1400" dirty="0"/>
          </a:p>
        </p:txBody>
      </p:sp>
      <p:pic>
        <p:nvPicPr>
          <p:cNvPr id="5" name="Imagem 4" descr="Interface gráfica do usuário, Texto, Aplicativo, Email&#10;&#10;O conteúdo gerado por IA pode estar incorreto.">
            <a:extLst>
              <a:ext uri="{FF2B5EF4-FFF2-40B4-BE49-F238E27FC236}">
                <a16:creationId xmlns:a16="http://schemas.microsoft.com/office/drawing/2014/main" id="{CF9B1947-1970-3902-B0B8-E1CFD709504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5303" y="1446637"/>
            <a:ext cx="5875259" cy="3616976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8" name="Retângulo 7">
            <a:extLst>
              <a:ext uri="{FF2B5EF4-FFF2-40B4-BE49-F238E27FC236}">
                <a16:creationId xmlns:a16="http://schemas.microsoft.com/office/drawing/2014/main" id="{12AAFD7C-8E10-BE62-F24C-0CC44CA77400}"/>
              </a:ext>
            </a:extLst>
          </p:cNvPr>
          <p:cNvSpPr/>
          <p:nvPr/>
        </p:nvSpPr>
        <p:spPr>
          <a:xfrm>
            <a:off x="275303" y="1651819"/>
            <a:ext cx="2733368" cy="73742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Elipse 8">
            <a:extLst>
              <a:ext uri="{FF2B5EF4-FFF2-40B4-BE49-F238E27FC236}">
                <a16:creationId xmlns:a16="http://schemas.microsoft.com/office/drawing/2014/main" id="{847783F6-5B55-2078-CDC2-64BCF453CEBB}"/>
              </a:ext>
            </a:extLst>
          </p:cNvPr>
          <p:cNvSpPr/>
          <p:nvPr/>
        </p:nvSpPr>
        <p:spPr>
          <a:xfrm>
            <a:off x="113070" y="1134631"/>
            <a:ext cx="324465" cy="324465"/>
          </a:xfrm>
          <a:prstGeom prst="ellipse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1</a:t>
            </a:r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1C6D358C-4858-D8B3-777C-796A23A74C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B5B39C-3780-455C-80CA-14351220CBC6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6597976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3421D4-8B71-D60A-FE27-3F8835BB40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8713037-4360-CC3F-E1BF-B5B0957FBE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5523271" cy="931739"/>
          </a:xfrm>
        </p:spPr>
        <p:txBody>
          <a:bodyPr/>
          <a:lstStyle/>
          <a:p>
            <a:r>
              <a:rPr lang="en-US" b="1" dirty="0" err="1">
                <a:solidFill>
                  <a:srgbClr val="6E4F8A"/>
                </a:solidFill>
              </a:rPr>
              <a:t>Baixando</a:t>
            </a:r>
            <a:r>
              <a:rPr lang="en-US" b="1" dirty="0">
                <a:solidFill>
                  <a:srgbClr val="6E4F8A"/>
                </a:solidFill>
              </a:rPr>
              <a:t> R e RStudio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9A1AF45F-F43A-093F-6CBA-323945590BB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75303" y="5213386"/>
            <a:ext cx="4589206" cy="39595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1400" dirty="0">
                <a:hlinkClick r:id="rId2"/>
              </a:rPr>
              <a:t>https://cran.r-project.org/bin/windows/base/</a:t>
            </a:r>
            <a:endParaRPr lang="en-US" sz="1400" dirty="0"/>
          </a:p>
        </p:txBody>
      </p:sp>
      <p:pic>
        <p:nvPicPr>
          <p:cNvPr id="5" name="Imagem 4" descr="Interface gráfica do usuário, Texto, Aplicativo, Email&#10;&#10;O conteúdo gerado por IA pode estar incorreto.">
            <a:extLst>
              <a:ext uri="{FF2B5EF4-FFF2-40B4-BE49-F238E27FC236}">
                <a16:creationId xmlns:a16="http://schemas.microsoft.com/office/drawing/2014/main" id="{1C67B98E-15B7-E094-CFEC-90E8BF36316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5303" y="1446637"/>
            <a:ext cx="5875259" cy="3616976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7" name="Elipse 6">
            <a:extLst>
              <a:ext uri="{FF2B5EF4-FFF2-40B4-BE49-F238E27FC236}">
                <a16:creationId xmlns:a16="http://schemas.microsoft.com/office/drawing/2014/main" id="{99AF3DEF-5420-B93A-E78F-DD48F807B65E}"/>
              </a:ext>
            </a:extLst>
          </p:cNvPr>
          <p:cNvSpPr/>
          <p:nvPr/>
        </p:nvSpPr>
        <p:spPr>
          <a:xfrm>
            <a:off x="113070" y="1134631"/>
            <a:ext cx="324465" cy="324465"/>
          </a:xfrm>
          <a:prstGeom prst="ellipse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1</a:t>
            </a:r>
          </a:p>
        </p:txBody>
      </p:sp>
      <p:pic>
        <p:nvPicPr>
          <p:cNvPr id="4" name="Imagem 3" descr="Interface gráfica do usuário, Texto, Aplicativo&#10;&#10;O conteúdo gerado por IA pode estar incorreto.">
            <a:extLst>
              <a:ext uri="{FF2B5EF4-FFF2-40B4-BE49-F238E27FC236}">
                <a16:creationId xmlns:a16="http://schemas.microsoft.com/office/drawing/2014/main" id="{C3513637-87FF-3C48-BBDA-64BD90CAEAE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16741" y="1446637"/>
            <a:ext cx="5875259" cy="4664715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6" name="Elipse 5">
            <a:extLst>
              <a:ext uri="{FF2B5EF4-FFF2-40B4-BE49-F238E27FC236}">
                <a16:creationId xmlns:a16="http://schemas.microsoft.com/office/drawing/2014/main" id="{48802D21-70BD-2705-6FD6-4C577EF74F0C}"/>
              </a:ext>
            </a:extLst>
          </p:cNvPr>
          <p:cNvSpPr/>
          <p:nvPr/>
        </p:nvSpPr>
        <p:spPr>
          <a:xfrm>
            <a:off x="6212013" y="1134631"/>
            <a:ext cx="324465" cy="324465"/>
          </a:xfrm>
          <a:prstGeom prst="ellipse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2</a:t>
            </a:r>
          </a:p>
        </p:txBody>
      </p:sp>
      <p:sp>
        <p:nvSpPr>
          <p:cNvPr id="8" name="Retângulo 7">
            <a:extLst>
              <a:ext uri="{FF2B5EF4-FFF2-40B4-BE49-F238E27FC236}">
                <a16:creationId xmlns:a16="http://schemas.microsoft.com/office/drawing/2014/main" id="{5C756A0C-3B07-4096-71C3-2F619A257913}"/>
              </a:ext>
            </a:extLst>
          </p:cNvPr>
          <p:cNvSpPr/>
          <p:nvPr/>
        </p:nvSpPr>
        <p:spPr>
          <a:xfrm>
            <a:off x="9340645" y="5063612"/>
            <a:ext cx="2733368" cy="963561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Espaço Reservado para Conteúdo 2">
            <a:hlinkClick r:id="rId5"/>
            <a:extLst>
              <a:ext uri="{FF2B5EF4-FFF2-40B4-BE49-F238E27FC236}">
                <a16:creationId xmlns:a16="http://schemas.microsoft.com/office/drawing/2014/main" id="{2396096D-6B6F-5D8F-15DE-3B4319E5FC07}"/>
              </a:ext>
            </a:extLst>
          </p:cNvPr>
          <p:cNvSpPr txBox="1">
            <a:spLocks/>
          </p:cNvSpPr>
          <p:nvPr/>
        </p:nvSpPr>
        <p:spPr>
          <a:xfrm>
            <a:off x="6212013" y="6225381"/>
            <a:ext cx="4589206" cy="39595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400" dirty="0">
                <a:hlinkClick r:id="rId5"/>
              </a:rPr>
              <a:t>https://posit.co/download/rstudio-desktop/</a:t>
            </a:r>
            <a:endParaRPr lang="en-US" sz="1400" dirty="0"/>
          </a:p>
        </p:txBody>
      </p:sp>
      <p:sp>
        <p:nvSpPr>
          <p:cNvPr id="10" name="Espaço Reservado para Número de Slide 9">
            <a:extLst>
              <a:ext uri="{FF2B5EF4-FFF2-40B4-BE49-F238E27FC236}">
                <a16:creationId xmlns:a16="http://schemas.microsoft.com/office/drawing/2014/main" id="{2EB45A80-8131-415C-9A6B-12757C442A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B5B39C-3780-455C-80CA-14351220CBC6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5827467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CDD7D6-A5A0-BD1F-BA7D-4FDA1F0037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Imagem 16" descr="Interface gráfica do usuário, Texto, Aplicativo&#10;&#10;O conteúdo gerado por IA pode estar incorreto.">
            <a:extLst>
              <a:ext uri="{FF2B5EF4-FFF2-40B4-BE49-F238E27FC236}">
                <a16:creationId xmlns:a16="http://schemas.microsoft.com/office/drawing/2014/main" id="{3A2F892E-BA39-26C3-49A6-1B3741BEB7C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23768" y="787911"/>
            <a:ext cx="7976550" cy="5997661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19B208C9-41D2-E8A1-A74C-9035C4E1E4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5523271" cy="931739"/>
          </a:xfrm>
        </p:spPr>
        <p:txBody>
          <a:bodyPr/>
          <a:lstStyle/>
          <a:p>
            <a:r>
              <a:rPr lang="en-US" b="1" dirty="0">
                <a:solidFill>
                  <a:srgbClr val="6E4F8A"/>
                </a:solidFill>
              </a:rPr>
              <a:t>Explorando RStudio</a:t>
            </a:r>
          </a:p>
        </p:txBody>
      </p:sp>
      <p:sp>
        <p:nvSpPr>
          <p:cNvPr id="7" name="Elipse 6">
            <a:extLst>
              <a:ext uri="{FF2B5EF4-FFF2-40B4-BE49-F238E27FC236}">
                <a16:creationId xmlns:a16="http://schemas.microsoft.com/office/drawing/2014/main" id="{411E57C1-B64B-4AFB-FDC4-6E6452468FA5}"/>
              </a:ext>
            </a:extLst>
          </p:cNvPr>
          <p:cNvSpPr/>
          <p:nvPr/>
        </p:nvSpPr>
        <p:spPr>
          <a:xfrm>
            <a:off x="1888868" y="1259866"/>
            <a:ext cx="202814" cy="202814"/>
          </a:xfrm>
          <a:prstGeom prst="ellipse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1</a:t>
            </a:r>
          </a:p>
        </p:txBody>
      </p:sp>
      <p:sp>
        <p:nvSpPr>
          <p:cNvPr id="13" name="Espaço Reservado para Número de Slide 12">
            <a:extLst>
              <a:ext uri="{FF2B5EF4-FFF2-40B4-BE49-F238E27FC236}">
                <a16:creationId xmlns:a16="http://schemas.microsoft.com/office/drawing/2014/main" id="{FB6FF07C-D103-4019-0A8A-93E8642575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B5B39C-3780-455C-80CA-14351220CBC6}" type="slidenum">
              <a:rPr lang="en-US" smtClean="0"/>
              <a:t>4</a:t>
            </a:fld>
            <a:endParaRPr lang="en-US"/>
          </a:p>
        </p:txBody>
      </p:sp>
      <p:sp>
        <p:nvSpPr>
          <p:cNvPr id="14" name="Retângulo 13">
            <a:extLst>
              <a:ext uri="{FF2B5EF4-FFF2-40B4-BE49-F238E27FC236}">
                <a16:creationId xmlns:a16="http://schemas.microsoft.com/office/drawing/2014/main" id="{97A30A0F-A7AE-AEE8-7C98-AB7C5508BE22}"/>
              </a:ext>
            </a:extLst>
          </p:cNvPr>
          <p:cNvSpPr/>
          <p:nvPr/>
        </p:nvSpPr>
        <p:spPr>
          <a:xfrm>
            <a:off x="2123768" y="1180273"/>
            <a:ext cx="270297" cy="14809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CaixaDeTexto 14">
            <a:extLst>
              <a:ext uri="{FF2B5EF4-FFF2-40B4-BE49-F238E27FC236}">
                <a16:creationId xmlns:a16="http://schemas.microsoft.com/office/drawing/2014/main" id="{55B5C062-67E1-4E2D-8ACC-6699ACD7089E}"/>
              </a:ext>
            </a:extLst>
          </p:cNvPr>
          <p:cNvSpPr txBox="1"/>
          <p:nvPr/>
        </p:nvSpPr>
        <p:spPr>
          <a:xfrm>
            <a:off x="603300" y="1234315"/>
            <a:ext cx="1348446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050" dirty="0"/>
              <a:t>Abrir um novo script</a:t>
            </a:r>
            <a:endParaRPr lang="en-US" sz="1050" dirty="0"/>
          </a:p>
        </p:txBody>
      </p:sp>
    </p:spTree>
    <p:extLst>
      <p:ext uri="{BB962C8B-B14F-4D97-AF65-F5344CB8AC3E}">
        <p14:creationId xmlns:p14="http://schemas.microsoft.com/office/powerpoint/2010/main" val="251814747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19B7AA-B9BE-5C95-D9AC-F455C115F8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m 3" descr="Tela de computador com texto preto sobre fundo branco&#10;&#10;O conteúdo gerado por IA pode estar incorreto.">
            <a:extLst>
              <a:ext uri="{FF2B5EF4-FFF2-40B4-BE49-F238E27FC236}">
                <a16:creationId xmlns:a16="http://schemas.microsoft.com/office/drawing/2014/main" id="{6C7D5D01-DB62-2B83-84AE-B662203B4B4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23769" y="787911"/>
            <a:ext cx="8008636" cy="6052173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CE78C52E-BB38-325A-43E9-826BF70814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5523271" cy="931739"/>
          </a:xfrm>
        </p:spPr>
        <p:txBody>
          <a:bodyPr/>
          <a:lstStyle/>
          <a:p>
            <a:r>
              <a:rPr lang="en-US" b="1" dirty="0">
                <a:solidFill>
                  <a:srgbClr val="6E4F8A"/>
                </a:solidFill>
              </a:rPr>
              <a:t>Explorando RStudio</a:t>
            </a:r>
          </a:p>
        </p:txBody>
      </p:sp>
      <p:sp>
        <p:nvSpPr>
          <p:cNvPr id="7" name="Elipse 6">
            <a:extLst>
              <a:ext uri="{FF2B5EF4-FFF2-40B4-BE49-F238E27FC236}">
                <a16:creationId xmlns:a16="http://schemas.microsoft.com/office/drawing/2014/main" id="{00DBF29D-95CF-090A-54B0-ED38DE2E024B}"/>
              </a:ext>
            </a:extLst>
          </p:cNvPr>
          <p:cNvSpPr/>
          <p:nvPr/>
        </p:nvSpPr>
        <p:spPr>
          <a:xfrm>
            <a:off x="1888868" y="1259866"/>
            <a:ext cx="202814" cy="202814"/>
          </a:xfrm>
          <a:prstGeom prst="ellipse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1</a:t>
            </a:r>
          </a:p>
        </p:txBody>
      </p:sp>
      <p:sp>
        <p:nvSpPr>
          <p:cNvPr id="13" name="Espaço Reservado para Número de Slide 12">
            <a:extLst>
              <a:ext uri="{FF2B5EF4-FFF2-40B4-BE49-F238E27FC236}">
                <a16:creationId xmlns:a16="http://schemas.microsoft.com/office/drawing/2014/main" id="{91A8D625-9486-5B34-9B07-72E7503950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B5B39C-3780-455C-80CA-14351220CBC6}" type="slidenum">
              <a:rPr lang="en-US" smtClean="0"/>
              <a:t>5</a:t>
            </a:fld>
            <a:endParaRPr lang="en-US"/>
          </a:p>
        </p:txBody>
      </p:sp>
      <p:sp>
        <p:nvSpPr>
          <p:cNvPr id="14" name="Retângulo 13">
            <a:extLst>
              <a:ext uri="{FF2B5EF4-FFF2-40B4-BE49-F238E27FC236}">
                <a16:creationId xmlns:a16="http://schemas.microsoft.com/office/drawing/2014/main" id="{4A24C734-D4FA-7FFE-5A9C-D6F4CE46F57E}"/>
              </a:ext>
            </a:extLst>
          </p:cNvPr>
          <p:cNvSpPr/>
          <p:nvPr/>
        </p:nvSpPr>
        <p:spPr>
          <a:xfrm>
            <a:off x="2127814" y="1388634"/>
            <a:ext cx="4379989" cy="3008268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CaixaDeTexto 14">
            <a:extLst>
              <a:ext uri="{FF2B5EF4-FFF2-40B4-BE49-F238E27FC236}">
                <a16:creationId xmlns:a16="http://schemas.microsoft.com/office/drawing/2014/main" id="{8FE90E56-B5BC-E308-DD79-67B29D2B340E}"/>
              </a:ext>
            </a:extLst>
          </p:cNvPr>
          <p:cNvSpPr txBox="1"/>
          <p:nvPr/>
        </p:nvSpPr>
        <p:spPr>
          <a:xfrm>
            <a:off x="603300" y="1234315"/>
            <a:ext cx="1348446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050" dirty="0"/>
              <a:t>Abrir um novo script</a:t>
            </a:r>
            <a:endParaRPr lang="en-US" sz="1050" dirty="0"/>
          </a:p>
        </p:txBody>
      </p:sp>
      <p:sp>
        <p:nvSpPr>
          <p:cNvPr id="5" name="Elipse 4">
            <a:extLst>
              <a:ext uri="{FF2B5EF4-FFF2-40B4-BE49-F238E27FC236}">
                <a16:creationId xmlns:a16="http://schemas.microsoft.com/office/drawing/2014/main" id="{1635549A-FBD2-866F-3594-08B7EFEBCF46}"/>
              </a:ext>
            </a:extLst>
          </p:cNvPr>
          <p:cNvSpPr/>
          <p:nvPr/>
        </p:nvSpPr>
        <p:spPr>
          <a:xfrm>
            <a:off x="1888868" y="2064019"/>
            <a:ext cx="202814" cy="202814"/>
          </a:xfrm>
          <a:prstGeom prst="ellipse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2</a:t>
            </a: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F8DBE352-E17C-5143-3EF6-D18421D8D3C4}"/>
              </a:ext>
            </a:extLst>
          </p:cNvPr>
          <p:cNvSpPr txBox="1"/>
          <p:nvPr/>
        </p:nvSpPr>
        <p:spPr>
          <a:xfrm>
            <a:off x="750917" y="1957677"/>
            <a:ext cx="1137951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050" dirty="0"/>
              <a:t>Aba onde vamos escrever o script</a:t>
            </a:r>
            <a:endParaRPr lang="en-US" sz="1050" dirty="0"/>
          </a:p>
        </p:txBody>
      </p:sp>
      <p:sp>
        <p:nvSpPr>
          <p:cNvPr id="8" name="Retângulo 7">
            <a:extLst>
              <a:ext uri="{FF2B5EF4-FFF2-40B4-BE49-F238E27FC236}">
                <a16:creationId xmlns:a16="http://schemas.microsoft.com/office/drawing/2014/main" id="{82B5652A-AC4A-9D0F-8CB2-DBD98D7AC917}"/>
              </a:ext>
            </a:extLst>
          </p:cNvPr>
          <p:cNvSpPr/>
          <p:nvPr/>
        </p:nvSpPr>
        <p:spPr>
          <a:xfrm>
            <a:off x="2123768" y="1180273"/>
            <a:ext cx="270297" cy="14809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226178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02B757-650A-570C-FECC-E882F719E2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m 3" descr="Tela de computador com texto preto sobre fundo branco&#10;&#10;O conteúdo gerado por IA pode estar incorreto.">
            <a:extLst>
              <a:ext uri="{FF2B5EF4-FFF2-40B4-BE49-F238E27FC236}">
                <a16:creationId xmlns:a16="http://schemas.microsoft.com/office/drawing/2014/main" id="{F9029D67-1117-2650-DED6-A05DB13DA0C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23769" y="787911"/>
            <a:ext cx="8008636" cy="6052173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6F68FBAE-551E-0708-E270-A7F8675E6D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5523271" cy="931739"/>
          </a:xfrm>
        </p:spPr>
        <p:txBody>
          <a:bodyPr/>
          <a:lstStyle/>
          <a:p>
            <a:r>
              <a:rPr lang="en-US" b="1" dirty="0">
                <a:solidFill>
                  <a:srgbClr val="6E4F8A"/>
                </a:solidFill>
              </a:rPr>
              <a:t>Explorando RStudio</a:t>
            </a:r>
          </a:p>
        </p:txBody>
      </p:sp>
      <p:sp>
        <p:nvSpPr>
          <p:cNvPr id="7" name="Elipse 6">
            <a:extLst>
              <a:ext uri="{FF2B5EF4-FFF2-40B4-BE49-F238E27FC236}">
                <a16:creationId xmlns:a16="http://schemas.microsoft.com/office/drawing/2014/main" id="{8134CB78-7277-27C8-15B2-2E8C05D278C0}"/>
              </a:ext>
            </a:extLst>
          </p:cNvPr>
          <p:cNvSpPr/>
          <p:nvPr/>
        </p:nvSpPr>
        <p:spPr>
          <a:xfrm>
            <a:off x="1888868" y="1259866"/>
            <a:ext cx="202814" cy="202814"/>
          </a:xfrm>
          <a:prstGeom prst="ellipse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1</a:t>
            </a:r>
          </a:p>
        </p:txBody>
      </p:sp>
      <p:sp>
        <p:nvSpPr>
          <p:cNvPr id="13" name="Espaço Reservado para Número de Slide 12">
            <a:extLst>
              <a:ext uri="{FF2B5EF4-FFF2-40B4-BE49-F238E27FC236}">
                <a16:creationId xmlns:a16="http://schemas.microsoft.com/office/drawing/2014/main" id="{AA1BC353-D0C7-CBD3-5121-160859E5A4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B5B39C-3780-455C-80CA-14351220CBC6}" type="slidenum">
              <a:rPr lang="en-US" smtClean="0"/>
              <a:t>6</a:t>
            </a:fld>
            <a:endParaRPr lang="en-US"/>
          </a:p>
        </p:txBody>
      </p:sp>
      <p:sp>
        <p:nvSpPr>
          <p:cNvPr id="14" name="Retângulo 13">
            <a:extLst>
              <a:ext uri="{FF2B5EF4-FFF2-40B4-BE49-F238E27FC236}">
                <a16:creationId xmlns:a16="http://schemas.microsoft.com/office/drawing/2014/main" id="{FE83ACA8-3E0E-4DC5-B6B2-82985C173FE7}"/>
              </a:ext>
            </a:extLst>
          </p:cNvPr>
          <p:cNvSpPr/>
          <p:nvPr/>
        </p:nvSpPr>
        <p:spPr>
          <a:xfrm>
            <a:off x="2127814" y="1388634"/>
            <a:ext cx="4379989" cy="3008268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CaixaDeTexto 14">
            <a:extLst>
              <a:ext uri="{FF2B5EF4-FFF2-40B4-BE49-F238E27FC236}">
                <a16:creationId xmlns:a16="http://schemas.microsoft.com/office/drawing/2014/main" id="{0D1806E0-0048-6389-8430-5997A3E116C4}"/>
              </a:ext>
            </a:extLst>
          </p:cNvPr>
          <p:cNvSpPr txBox="1"/>
          <p:nvPr/>
        </p:nvSpPr>
        <p:spPr>
          <a:xfrm>
            <a:off x="603300" y="1234315"/>
            <a:ext cx="1348446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050" dirty="0"/>
              <a:t>Abrir um novo script</a:t>
            </a:r>
            <a:endParaRPr lang="en-US" sz="1050" dirty="0"/>
          </a:p>
        </p:txBody>
      </p:sp>
      <p:sp>
        <p:nvSpPr>
          <p:cNvPr id="5" name="Elipse 4">
            <a:extLst>
              <a:ext uri="{FF2B5EF4-FFF2-40B4-BE49-F238E27FC236}">
                <a16:creationId xmlns:a16="http://schemas.microsoft.com/office/drawing/2014/main" id="{2A33675D-089C-E5F3-E520-F70E71CAB7D9}"/>
              </a:ext>
            </a:extLst>
          </p:cNvPr>
          <p:cNvSpPr/>
          <p:nvPr/>
        </p:nvSpPr>
        <p:spPr>
          <a:xfrm>
            <a:off x="1888868" y="2064019"/>
            <a:ext cx="202814" cy="202814"/>
          </a:xfrm>
          <a:prstGeom prst="ellipse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2</a:t>
            </a: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971EDD98-DF26-94BB-4484-9FDAFC895F64}"/>
              </a:ext>
            </a:extLst>
          </p:cNvPr>
          <p:cNvSpPr txBox="1"/>
          <p:nvPr/>
        </p:nvSpPr>
        <p:spPr>
          <a:xfrm>
            <a:off x="750917" y="1957677"/>
            <a:ext cx="1137951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050" dirty="0"/>
              <a:t>Aba onde vamos escrever o script</a:t>
            </a:r>
            <a:endParaRPr lang="en-US" sz="1050" dirty="0"/>
          </a:p>
        </p:txBody>
      </p:sp>
      <p:sp>
        <p:nvSpPr>
          <p:cNvPr id="8" name="Retângulo 7">
            <a:extLst>
              <a:ext uri="{FF2B5EF4-FFF2-40B4-BE49-F238E27FC236}">
                <a16:creationId xmlns:a16="http://schemas.microsoft.com/office/drawing/2014/main" id="{3ED3C695-4FEF-3055-A54B-3A66A5A74E39}"/>
              </a:ext>
            </a:extLst>
          </p:cNvPr>
          <p:cNvSpPr/>
          <p:nvPr/>
        </p:nvSpPr>
        <p:spPr>
          <a:xfrm>
            <a:off x="2123768" y="1180273"/>
            <a:ext cx="270297" cy="14809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tângulo 2">
            <a:extLst>
              <a:ext uri="{FF2B5EF4-FFF2-40B4-BE49-F238E27FC236}">
                <a16:creationId xmlns:a16="http://schemas.microsoft.com/office/drawing/2014/main" id="{05E07E74-5A3E-FED0-AE29-0C764A7F46A6}"/>
              </a:ext>
            </a:extLst>
          </p:cNvPr>
          <p:cNvSpPr/>
          <p:nvPr/>
        </p:nvSpPr>
        <p:spPr>
          <a:xfrm>
            <a:off x="2123768" y="4432929"/>
            <a:ext cx="4379989" cy="2425071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Elipse 8">
            <a:extLst>
              <a:ext uri="{FF2B5EF4-FFF2-40B4-BE49-F238E27FC236}">
                <a16:creationId xmlns:a16="http://schemas.microsoft.com/office/drawing/2014/main" id="{82CE9EC8-D882-11DA-86E9-6EE6FC1A06A4}"/>
              </a:ext>
            </a:extLst>
          </p:cNvPr>
          <p:cNvSpPr/>
          <p:nvPr/>
        </p:nvSpPr>
        <p:spPr>
          <a:xfrm>
            <a:off x="1888868" y="4484826"/>
            <a:ext cx="202814" cy="202814"/>
          </a:xfrm>
          <a:prstGeom prst="ellipse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200" dirty="0"/>
              <a:t>3</a:t>
            </a:r>
            <a:endParaRPr lang="en-US" sz="1200" dirty="0"/>
          </a:p>
        </p:txBody>
      </p:sp>
      <p:sp>
        <p:nvSpPr>
          <p:cNvPr id="10" name="CaixaDeTexto 9">
            <a:extLst>
              <a:ext uri="{FF2B5EF4-FFF2-40B4-BE49-F238E27FC236}">
                <a16:creationId xmlns:a16="http://schemas.microsoft.com/office/drawing/2014/main" id="{CAA0F732-9A44-48A3-756B-3AABE9890C19}"/>
              </a:ext>
            </a:extLst>
          </p:cNvPr>
          <p:cNvSpPr txBox="1"/>
          <p:nvPr/>
        </p:nvSpPr>
        <p:spPr>
          <a:xfrm>
            <a:off x="743237" y="4586233"/>
            <a:ext cx="1348445" cy="90024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050" b="1" dirty="0"/>
              <a:t>Console</a:t>
            </a:r>
            <a:r>
              <a:rPr lang="pt-BR" sz="1050" dirty="0"/>
              <a:t>:</a:t>
            </a:r>
          </a:p>
          <a:p>
            <a:pPr algn="ctr"/>
            <a:r>
              <a:rPr lang="pt-BR" sz="1050" dirty="0"/>
              <a:t>Ambiente onde os resultados do script rodado será impresso/mostrado</a:t>
            </a:r>
            <a:endParaRPr lang="en-US" sz="1050" dirty="0"/>
          </a:p>
        </p:txBody>
      </p:sp>
    </p:spTree>
    <p:extLst>
      <p:ext uri="{BB962C8B-B14F-4D97-AF65-F5344CB8AC3E}">
        <p14:creationId xmlns:p14="http://schemas.microsoft.com/office/powerpoint/2010/main" val="181840787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D2D556-0639-AD5C-8372-C88DF8990E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m 3" descr="Tela de computador com texto preto sobre fundo branco&#10;&#10;O conteúdo gerado por IA pode estar incorreto.">
            <a:extLst>
              <a:ext uri="{FF2B5EF4-FFF2-40B4-BE49-F238E27FC236}">
                <a16:creationId xmlns:a16="http://schemas.microsoft.com/office/drawing/2014/main" id="{448D853A-F833-0FA2-BAA5-8226454C883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23769" y="787911"/>
            <a:ext cx="8008636" cy="6052173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51D502C7-0705-F14D-C22E-E2F7148F5B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5523271" cy="931739"/>
          </a:xfrm>
        </p:spPr>
        <p:txBody>
          <a:bodyPr/>
          <a:lstStyle/>
          <a:p>
            <a:r>
              <a:rPr lang="en-US" b="1" dirty="0">
                <a:solidFill>
                  <a:srgbClr val="6E4F8A"/>
                </a:solidFill>
              </a:rPr>
              <a:t>Explorando RStudio</a:t>
            </a:r>
          </a:p>
        </p:txBody>
      </p:sp>
      <p:sp>
        <p:nvSpPr>
          <p:cNvPr id="7" name="Elipse 6">
            <a:extLst>
              <a:ext uri="{FF2B5EF4-FFF2-40B4-BE49-F238E27FC236}">
                <a16:creationId xmlns:a16="http://schemas.microsoft.com/office/drawing/2014/main" id="{053CC480-14D2-FDFC-B16E-4A29C253B724}"/>
              </a:ext>
            </a:extLst>
          </p:cNvPr>
          <p:cNvSpPr/>
          <p:nvPr/>
        </p:nvSpPr>
        <p:spPr>
          <a:xfrm>
            <a:off x="1888868" y="1259866"/>
            <a:ext cx="202814" cy="202814"/>
          </a:xfrm>
          <a:prstGeom prst="ellipse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1</a:t>
            </a:r>
          </a:p>
        </p:txBody>
      </p:sp>
      <p:sp>
        <p:nvSpPr>
          <p:cNvPr id="13" name="Espaço Reservado para Número de Slide 12">
            <a:extLst>
              <a:ext uri="{FF2B5EF4-FFF2-40B4-BE49-F238E27FC236}">
                <a16:creationId xmlns:a16="http://schemas.microsoft.com/office/drawing/2014/main" id="{46FB45A9-58A1-C0C0-15DF-D3637E5922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B5B39C-3780-455C-80CA-14351220CBC6}" type="slidenum">
              <a:rPr lang="en-US" smtClean="0"/>
              <a:t>7</a:t>
            </a:fld>
            <a:endParaRPr lang="en-US"/>
          </a:p>
        </p:txBody>
      </p:sp>
      <p:sp>
        <p:nvSpPr>
          <p:cNvPr id="14" name="Retângulo 13">
            <a:extLst>
              <a:ext uri="{FF2B5EF4-FFF2-40B4-BE49-F238E27FC236}">
                <a16:creationId xmlns:a16="http://schemas.microsoft.com/office/drawing/2014/main" id="{A2AE5633-1931-DF6C-C644-29E32028FB0E}"/>
              </a:ext>
            </a:extLst>
          </p:cNvPr>
          <p:cNvSpPr/>
          <p:nvPr/>
        </p:nvSpPr>
        <p:spPr>
          <a:xfrm>
            <a:off x="2127814" y="1388634"/>
            <a:ext cx="4379989" cy="3008268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CaixaDeTexto 14">
            <a:extLst>
              <a:ext uri="{FF2B5EF4-FFF2-40B4-BE49-F238E27FC236}">
                <a16:creationId xmlns:a16="http://schemas.microsoft.com/office/drawing/2014/main" id="{A13AC295-41F5-D5D9-1130-8DF395AC4663}"/>
              </a:ext>
            </a:extLst>
          </p:cNvPr>
          <p:cNvSpPr txBox="1"/>
          <p:nvPr/>
        </p:nvSpPr>
        <p:spPr>
          <a:xfrm>
            <a:off x="603300" y="1234315"/>
            <a:ext cx="1348446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050" dirty="0"/>
              <a:t>Abrir um novo script</a:t>
            </a:r>
            <a:endParaRPr lang="en-US" sz="1050" dirty="0"/>
          </a:p>
        </p:txBody>
      </p:sp>
      <p:sp>
        <p:nvSpPr>
          <p:cNvPr id="5" name="Elipse 4">
            <a:extLst>
              <a:ext uri="{FF2B5EF4-FFF2-40B4-BE49-F238E27FC236}">
                <a16:creationId xmlns:a16="http://schemas.microsoft.com/office/drawing/2014/main" id="{D762F685-6EEA-D935-7ECE-8DBFF8734CDF}"/>
              </a:ext>
            </a:extLst>
          </p:cNvPr>
          <p:cNvSpPr/>
          <p:nvPr/>
        </p:nvSpPr>
        <p:spPr>
          <a:xfrm>
            <a:off x="1888868" y="2064019"/>
            <a:ext cx="202814" cy="202814"/>
          </a:xfrm>
          <a:prstGeom prst="ellipse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2</a:t>
            </a: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B92F4377-AF95-969D-4E4D-1AC021FB08B6}"/>
              </a:ext>
            </a:extLst>
          </p:cNvPr>
          <p:cNvSpPr txBox="1"/>
          <p:nvPr/>
        </p:nvSpPr>
        <p:spPr>
          <a:xfrm>
            <a:off x="750917" y="1957677"/>
            <a:ext cx="1137951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050" dirty="0"/>
              <a:t>Aba onde vamos escrever o script</a:t>
            </a:r>
            <a:endParaRPr lang="en-US" sz="1050" dirty="0"/>
          </a:p>
        </p:txBody>
      </p:sp>
      <p:sp>
        <p:nvSpPr>
          <p:cNvPr id="8" name="Retângulo 7">
            <a:extLst>
              <a:ext uri="{FF2B5EF4-FFF2-40B4-BE49-F238E27FC236}">
                <a16:creationId xmlns:a16="http://schemas.microsoft.com/office/drawing/2014/main" id="{0FF0A9AF-2C8A-3280-653F-3435CC2A71E0}"/>
              </a:ext>
            </a:extLst>
          </p:cNvPr>
          <p:cNvSpPr/>
          <p:nvPr/>
        </p:nvSpPr>
        <p:spPr>
          <a:xfrm>
            <a:off x="2123768" y="1180273"/>
            <a:ext cx="270297" cy="14809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tângulo 2">
            <a:extLst>
              <a:ext uri="{FF2B5EF4-FFF2-40B4-BE49-F238E27FC236}">
                <a16:creationId xmlns:a16="http://schemas.microsoft.com/office/drawing/2014/main" id="{4FEC901D-FB47-B4B8-5321-9FF123337694}"/>
              </a:ext>
            </a:extLst>
          </p:cNvPr>
          <p:cNvSpPr/>
          <p:nvPr/>
        </p:nvSpPr>
        <p:spPr>
          <a:xfrm>
            <a:off x="2123768" y="4432929"/>
            <a:ext cx="4379989" cy="2425071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Elipse 8">
            <a:extLst>
              <a:ext uri="{FF2B5EF4-FFF2-40B4-BE49-F238E27FC236}">
                <a16:creationId xmlns:a16="http://schemas.microsoft.com/office/drawing/2014/main" id="{51B29526-46D0-303B-9EB9-96F0305C0281}"/>
              </a:ext>
            </a:extLst>
          </p:cNvPr>
          <p:cNvSpPr/>
          <p:nvPr/>
        </p:nvSpPr>
        <p:spPr>
          <a:xfrm>
            <a:off x="1888868" y="4484826"/>
            <a:ext cx="202814" cy="202814"/>
          </a:xfrm>
          <a:prstGeom prst="ellipse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200" dirty="0"/>
              <a:t>3</a:t>
            </a:r>
            <a:endParaRPr lang="en-US" sz="1200" dirty="0"/>
          </a:p>
        </p:txBody>
      </p:sp>
      <p:sp>
        <p:nvSpPr>
          <p:cNvPr id="10" name="CaixaDeTexto 9">
            <a:extLst>
              <a:ext uri="{FF2B5EF4-FFF2-40B4-BE49-F238E27FC236}">
                <a16:creationId xmlns:a16="http://schemas.microsoft.com/office/drawing/2014/main" id="{97DBC835-B8D7-7B49-9F40-A78F046D12BD}"/>
              </a:ext>
            </a:extLst>
          </p:cNvPr>
          <p:cNvSpPr txBox="1"/>
          <p:nvPr/>
        </p:nvSpPr>
        <p:spPr>
          <a:xfrm>
            <a:off x="743237" y="4586233"/>
            <a:ext cx="1348445" cy="90024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050" b="1" dirty="0"/>
              <a:t>Console</a:t>
            </a:r>
            <a:r>
              <a:rPr lang="pt-BR" sz="1050" dirty="0"/>
              <a:t>:</a:t>
            </a:r>
          </a:p>
          <a:p>
            <a:pPr algn="ctr"/>
            <a:r>
              <a:rPr lang="pt-BR" sz="1050" dirty="0"/>
              <a:t>Ambiente onde os resultados do script rodado será impresso/mostrado</a:t>
            </a:r>
            <a:endParaRPr lang="en-US" sz="1050" dirty="0"/>
          </a:p>
        </p:txBody>
      </p:sp>
      <p:sp>
        <p:nvSpPr>
          <p:cNvPr id="11" name="Retângulo 10">
            <a:extLst>
              <a:ext uri="{FF2B5EF4-FFF2-40B4-BE49-F238E27FC236}">
                <a16:creationId xmlns:a16="http://schemas.microsoft.com/office/drawing/2014/main" id="{2E75490B-B395-7884-9C42-B183DE9C0D0B}"/>
              </a:ext>
            </a:extLst>
          </p:cNvPr>
          <p:cNvSpPr/>
          <p:nvPr/>
        </p:nvSpPr>
        <p:spPr>
          <a:xfrm>
            <a:off x="6511848" y="1397592"/>
            <a:ext cx="3620557" cy="2872851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CaixaDeTexto 11">
            <a:extLst>
              <a:ext uri="{FF2B5EF4-FFF2-40B4-BE49-F238E27FC236}">
                <a16:creationId xmlns:a16="http://schemas.microsoft.com/office/drawing/2014/main" id="{6EDA1CCF-88D1-67EB-C30F-92D0255BE98C}"/>
              </a:ext>
            </a:extLst>
          </p:cNvPr>
          <p:cNvSpPr txBox="1"/>
          <p:nvPr/>
        </p:nvSpPr>
        <p:spPr>
          <a:xfrm>
            <a:off x="10132405" y="1361273"/>
            <a:ext cx="1348445" cy="12234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050" b="1" dirty="0"/>
              <a:t>Ambiente</a:t>
            </a:r>
            <a:r>
              <a:rPr lang="pt-BR" sz="1050" dirty="0"/>
              <a:t>:</a:t>
            </a:r>
          </a:p>
          <a:p>
            <a:pPr algn="ctr"/>
            <a:r>
              <a:rPr lang="pt-BR" sz="1050" dirty="0"/>
              <a:t>Ambiente onde os arquivos carregados e criados ficarão amostra para acesso</a:t>
            </a:r>
            <a:endParaRPr lang="en-US" sz="1050" dirty="0"/>
          </a:p>
        </p:txBody>
      </p:sp>
      <p:sp>
        <p:nvSpPr>
          <p:cNvPr id="17" name="Elipse 16">
            <a:extLst>
              <a:ext uri="{FF2B5EF4-FFF2-40B4-BE49-F238E27FC236}">
                <a16:creationId xmlns:a16="http://schemas.microsoft.com/office/drawing/2014/main" id="{FAAC1613-D0D6-A773-F9B5-BFE72BF8571F}"/>
              </a:ext>
            </a:extLst>
          </p:cNvPr>
          <p:cNvSpPr/>
          <p:nvPr/>
        </p:nvSpPr>
        <p:spPr>
          <a:xfrm>
            <a:off x="10199887" y="1328365"/>
            <a:ext cx="202814" cy="202814"/>
          </a:xfrm>
          <a:prstGeom prst="ellipse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200" dirty="0"/>
              <a:t>4</a:t>
            </a:r>
            <a:endParaRPr lang="en-US" sz="1200" dirty="0"/>
          </a:p>
        </p:txBody>
      </p:sp>
    </p:spTree>
    <p:extLst>
      <p:ext uri="{BB962C8B-B14F-4D97-AF65-F5344CB8AC3E}">
        <p14:creationId xmlns:p14="http://schemas.microsoft.com/office/powerpoint/2010/main" val="231740593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F8543B-113B-E313-4CA1-53F8008FA5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m 3" descr="Tela de computador com texto preto sobre fundo branco&#10;&#10;O conteúdo gerado por IA pode estar incorreto.">
            <a:extLst>
              <a:ext uri="{FF2B5EF4-FFF2-40B4-BE49-F238E27FC236}">
                <a16:creationId xmlns:a16="http://schemas.microsoft.com/office/drawing/2014/main" id="{B54985C2-ECBC-208F-B8B8-80AA8182719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23769" y="787911"/>
            <a:ext cx="8008636" cy="6052173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4393AF6B-1BF2-AF64-429D-87B5BCE402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5523271" cy="931739"/>
          </a:xfrm>
        </p:spPr>
        <p:txBody>
          <a:bodyPr/>
          <a:lstStyle/>
          <a:p>
            <a:r>
              <a:rPr lang="en-US" b="1" dirty="0">
                <a:solidFill>
                  <a:srgbClr val="6E4F8A"/>
                </a:solidFill>
              </a:rPr>
              <a:t>Explorando RStudio</a:t>
            </a:r>
          </a:p>
        </p:txBody>
      </p:sp>
      <p:sp>
        <p:nvSpPr>
          <p:cNvPr id="7" name="Elipse 6">
            <a:extLst>
              <a:ext uri="{FF2B5EF4-FFF2-40B4-BE49-F238E27FC236}">
                <a16:creationId xmlns:a16="http://schemas.microsoft.com/office/drawing/2014/main" id="{1881823E-015F-FAE8-9AAC-3A47F797FD8C}"/>
              </a:ext>
            </a:extLst>
          </p:cNvPr>
          <p:cNvSpPr/>
          <p:nvPr/>
        </p:nvSpPr>
        <p:spPr>
          <a:xfrm>
            <a:off x="1888868" y="1259866"/>
            <a:ext cx="202814" cy="202814"/>
          </a:xfrm>
          <a:prstGeom prst="ellipse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1</a:t>
            </a:r>
          </a:p>
        </p:txBody>
      </p:sp>
      <p:sp>
        <p:nvSpPr>
          <p:cNvPr id="13" name="Espaço Reservado para Número de Slide 12">
            <a:extLst>
              <a:ext uri="{FF2B5EF4-FFF2-40B4-BE49-F238E27FC236}">
                <a16:creationId xmlns:a16="http://schemas.microsoft.com/office/drawing/2014/main" id="{8B5769A1-9D8B-D296-3F20-88E0485275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B5B39C-3780-455C-80CA-14351220CBC6}" type="slidenum">
              <a:rPr lang="en-US" smtClean="0"/>
              <a:t>8</a:t>
            </a:fld>
            <a:endParaRPr lang="en-US"/>
          </a:p>
        </p:txBody>
      </p:sp>
      <p:sp>
        <p:nvSpPr>
          <p:cNvPr id="14" name="Retângulo 13">
            <a:extLst>
              <a:ext uri="{FF2B5EF4-FFF2-40B4-BE49-F238E27FC236}">
                <a16:creationId xmlns:a16="http://schemas.microsoft.com/office/drawing/2014/main" id="{32D01498-F236-B04B-0316-D2BDF7F47BF2}"/>
              </a:ext>
            </a:extLst>
          </p:cNvPr>
          <p:cNvSpPr/>
          <p:nvPr/>
        </p:nvSpPr>
        <p:spPr>
          <a:xfrm>
            <a:off x="2127814" y="1388634"/>
            <a:ext cx="4379989" cy="3008268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CaixaDeTexto 14">
            <a:extLst>
              <a:ext uri="{FF2B5EF4-FFF2-40B4-BE49-F238E27FC236}">
                <a16:creationId xmlns:a16="http://schemas.microsoft.com/office/drawing/2014/main" id="{EA57457F-F699-48FC-4EAB-55386449BA69}"/>
              </a:ext>
            </a:extLst>
          </p:cNvPr>
          <p:cNvSpPr txBox="1"/>
          <p:nvPr/>
        </p:nvSpPr>
        <p:spPr>
          <a:xfrm>
            <a:off x="603300" y="1234315"/>
            <a:ext cx="1348446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050" dirty="0"/>
              <a:t>Abrir um novo script</a:t>
            </a:r>
            <a:endParaRPr lang="en-US" sz="1050" dirty="0"/>
          </a:p>
        </p:txBody>
      </p:sp>
      <p:sp>
        <p:nvSpPr>
          <p:cNvPr id="5" name="Elipse 4">
            <a:extLst>
              <a:ext uri="{FF2B5EF4-FFF2-40B4-BE49-F238E27FC236}">
                <a16:creationId xmlns:a16="http://schemas.microsoft.com/office/drawing/2014/main" id="{B2DFE019-F19A-741C-D650-0D6B0218E255}"/>
              </a:ext>
            </a:extLst>
          </p:cNvPr>
          <p:cNvSpPr/>
          <p:nvPr/>
        </p:nvSpPr>
        <p:spPr>
          <a:xfrm>
            <a:off x="1888868" y="2064019"/>
            <a:ext cx="202814" cy="202814"/>
          </a:xfrm>
          <a:prstGeom prst="ellipse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2</a:t>
            </a: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CEB18007-6505-2EDC-F6C5-C40E7A1C064B}"/>
              </a:ext>
            </a:extLst>
          </p:cNvPr>
          <p:cNvSpPr txBox="1"/>
          <p:nvPr/>
        </p:nvSpPr>
        <p:spPr>
          <a:xfrm>
            <a:off x="750917" y="1957677"/>
            <a:ext cx="1137951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050" dirty="0"/>
              <a:t>Aba onde vamos escrever o script</a:t>
            </a:r>
            <a:endParaRPr lang="en-US" sz="1050" dirty="0"/>
          </a:p>
        </p:txBody>
      </p:sp>
      <p:sp>
        <p:nvSpPr>
          <p:cNvPr id="8" name="Retângulo 7">
            <a:extLst>
              <a:ext uri="{FF2B5EF4-FFF2-40B4-BE49-F238E27FC236}">
                <a16:creationId xmlns:a16="http://schemas.microsoft.com/office/drawing/2014/main" id="{BE3892ED-D463-538F-3893-492A02669438}"/>
              </a:ext>
            </a:extLst>
          </p:cNvPr>
          <p:cNvSpPr/>
          <p:nvPr/>
        </p:nvSpPr>
        <p:spPr>
          <a:xfrm>
            <a:off x="2123768" y="1180273"/>
            <a:ext cx="270297" cy="14809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tângulo 2">
            <a:extLst>
              <a:ext uri="{FF2B5EF4-FFF2-40B4-BE49-F238E27FC236}">
                <a16:creationId xmlns:a16="http://schemas.microsoft.com/office/drawing/2014/main" id="{1809F1C1-5DD9-4C9C-24B8-F3D54AEEBF14}"/>
              </a:ext>
            </a:extLst>
          </p:cNvPr>
          <p:cNvSpPr/>
          <p:nvPr/>
        </p:nvSpPr>
        <p:spPr>
          <a:xfrm>
            <a:off x="2123768" y="4432929"/>
            <a:ext cx="4379989" cy="2425071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Elipse 8">
            <a:extLst>
              <a:ext uri="{FF2B5EF4-FFF2-40B4-BE49-F238E27FC236}">
                <a16:creationId xmlns:a16="http://schemas.microsoft.com/office/drawing/2014/main" id="{39914527-4030-6C5E-7BC8-C28E09B40DAE}"/>
              </a:ext>
            </a:extLst>
          </p:cNvPr>
          <p:cNvSpPr/>
          <p:nvPr/>
        </p:nvSpPr>
        <p:spPr>
          <a:xfrm>
            <a:off x="1888868" y="4484826"/>
            <a:ext cx="202814" cy="202814"/>
          </a:xfrm>
          <a:prstGeom prst="ellipse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200" dirty="0"/>
              <a:t>3</a:t>
            </a:r>
            <a:endParaRPr lang="en-US" sz="1200" dirty="0"/>
          </a:p>
        </p:txBody>
      </p:sp>
      <p:sp>
        <p:nvSpPr>
          <p:cNvPr id="10" name="CaixaDeTexto 9">
            <a:extLst>
              <a:ext uri="{FF2B5EF4-FFF2-40B4-BE49-F238E27FC236}">
                <a16:creationId xmlns:a16="http://schemas.microsoft.com/office/drawing/2014/main" id="{803BCCE4-8102-E054-E193-4CFF0D828F91}"/>
              </a:ext>
            </a:extLst>
          </p:cNvPr>
          <p:cNvSpPr txBox="1"/>
          <p:nvPr/>
        </p:nvSpPr>
        <p:spPr>
          <a:xfrm>
            <a:off x="743237" y="4586233"/>
            <a:ext cx="1348445" cy="90024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050" b="1" dirty="0"/>
              <a:t>Console</a:t>
            </a:r>
            <a:r>
              <a:rPr lang="pt-BR" sz="1050" dirty="0"/>
              <a:t>:</a:t>
            </a:r>
          </a:p>
          <a:p>
            <a:pPr algn="ctr"/>
            <a:r>
              <a:rPr lang="pt-BR" sz="1050" dirty="0"/>
              <a:t>Ambiente onde os resultados do script rodado será impresso/mostrado</a:t>
            </a:r>
            <a:endParaRPr lang="en-US" sz="1050" dirty="0"/>
          </a:p>
        </p:txBody>
      </p:sp>
      <p:sp>
        <p:nvSpPr>
          <p:cNvPr id="11" name="Retângulo 10">
            <a:extLst>
              <a:ext uri="{FF2B5EF4-FFF2-40B4-BE49-F238E27FC236}">
                <a16:creationId xmlns:a16="http://schemas.microsoft.com/office/drawing/2014/main" id="{65CDE1FF-77E9-6E82-38F1-86EF3938EB6C}"/>
              </a:ext>
            </a:extLst>
          </p:cNvPr>
          <p:cNvSpPr/>
          <p:nvPr/>
        </p:nvSpPr>
        <p:spPr>
          <a:xfrm>
            <a:off x="6511848" y="1397592"/>
            <a:ext cx="3620557" cy="2872851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CaixaDeTexto 11">
            <a:extLst>
              <a:ext uri="{FF2B5EF4-FFF2-40B4-BE49-F238E27FC236}">
                <a16:creationId xmlns:a16="http://schemas.microsoft.com/office/drawing/2014/main" id="{3FBB709D-207A-5B91-B496-BD82884F2182}"/>
              </a:ext>
            </a:extLst>
          </p:cNvPr>
          <p:cNvSpPr txBox="1"/>
          <p:nvPr/>
        </p:nvSpPr>
        <p:spPr>
          <a:xfrm>
            <a:off x="10132405" y="1361273"/>
            <a:ext cx="1348445" cy="12234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050" b="1" dirty="0"/>
              <a:t>Ambiente</a:t>
            </a:r>
            <a:r>
              <a:rPr lang="pt-BR" sz="1050" dirty="0"/>
              <a:t>:</a:t>
            </a:r>
          </a:p>
          <a:p>
            <a:pPr algn="ctr"/>
            <a:r>
              <a:rPr lang="pt-BR" sz="1050" dirty="0"/>
              <a:t>Ambiente onde os arquivos carregados e criados ficarão amostra para acesso</a:t>
            </a:r>
            <a:endParaRPr lang="en-US" sz="1050" dirty="0"/>
          </a:p>
        </p:txBody>
      </p:sp>
      <p:sp>
        <p:nvSpPr>
          <p:cNvPr id="16" name="CaixaDeTexto 15">
            <a:extLst>
              <a:ext uri="{FF2B5EF4-FFF2-40B4-BE49-F238E27FC236}">
                <a16:creationId xmlns:a16="http://schemas.microsoft.com/office/drawing/2014/main" id="{8203A17A-5E59-4BA7-4DC9-8BC43FF2973E}"/>
              </a:ext>
            </a:extLst>
          </p:cNvPr>
          <p:cNvSpPr txBox="1"/>
          <p:nvPr/>
        </p:nvSpPr>
        <p:spPr>
          <a:xfrm>
            <a:off x="10100318" y="4236996"/>
            <a:ext cx="1348445" cy="12234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050" dirty="0"/>
              <a:t>Ambiente que permite navegar pelo computador, acessar pastas, visualizar gráficos e procurar por pacotes/funções</a:t>
            </a:r>
            <a:endParaRPr lang="en-US" sz="1050" dirty="0"/>
          </a:p>
        </p:txBody>
      </p:sp>
      <p:sp>
        <p:nvSpPr>
          <p:cNvPr id="17" name="Retângulo 16">
            <a:extLst>
              <a:ext uri="{FF2B5EF4-FFF2-40B4-BE49-F238E27FC236}">
                <a16:creationId xmlns:a16="http://schemas.microsoft.com/office/drawing/2014/main" id="{DD7C9B00-99E5-258A-56AF-FAF2C6B9734C}"/>
              </a:ext>
            </a:extLst>
          </p:cNvPr>
          <p:cNvSpPr/>
          <p:nvPr/>
        </p:nvSpPr>
        <p:spPr>
          <a:xfrm>
            <a:off x="6511847" y="4279400"/>
            <a:ext cx="3620557" cy="2569641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Elipse 17">
            <a:extLst>
              <a:ext uri="{FF2B5EF4-FFF2-40B4-BE49-F238E27FC236}">
                <a16:creationId xmlns:a16="http://schemas.microsoft.com/office/drawing/2014/main" id="{8FDD3353-ECF1-4B93-94A5-94A3ADD12F1A}"/>
              </a:ext>
            </a:extLst>
          </p:cNvPr>
          <p:cNvSpPr/>
          <p:nvPr/>
        </p:nvSpPr>
        <p:spPr>
          <a:xfrm>
            <a:off x="10199887" y="1328365"/>
            <a:ext cx="202814" cy="202814"/>
          </a:xfrm>
          <a:prstGeom prst="ellipse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200" dirty="0"/>
              <a:t>4</a:t>
            </a:r>
            <a:endParaRPr lang="en-US" sz="1200" dirty="0"/>
          </a:p>
        </p:txBody>
      </p:sp>
      <p:sp>
        <p:nvSpPr>
          <p:cNvPr id="19" name="Elipse 18">
            <a:extLst>
              <a:ext uri="{FF2B5EF4-FFF2-40B4-BE49-F238E27FC236}">
                <a16:creationId xmlns:a16="http://schemas.microsoft.com/office/drawing/2014/main" id="{8AF69F06-F4BC-084D-0018-BF96228CD877}"/>
              </a:ext>
            </a:extLst>
          </p:cNvPr>
          <p:cNvSpPr/>
          <p:nvPr/>
        </p:nvSpPr>
        <p:spPr>
          <a:xfrm>
            <a:off x="10164492" y="4194088"/>
            <a:ext cx="202814" cy="202814"/>
          </a:xfrm>
          <a:prstGeom prst="ellipse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200" dirty="0"/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359576701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B3EB7B-405D-A970-7B45-DC563038E3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m 3" descr="Tela de computador com texto preto sobre fundo branco&#10;&#10;O conteúdo gerado por IA pode estar incorreto.">
            <a:extLst>
              <a:ext uri="{FF2B5EF4-FFF2-40B4-BE49-F238E27FC236}">
                <a16:creationId xmlns:a16="http://schemas.microsoft.com/office/drawing/2014/main" id="{34403891-BC08-1FAA-09FD-59A0638707A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23769" y="787911"/>
            <a:ext cx="8008636" cy="6052173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0BB5064C-2B74-6067-ED81-DFA9E37EBA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5523271" cy="931739"/>
          </a:xfrm>
        </p:spPr>
        <p:txBody>
          <a:bodyPr/>
          <a:lstStyle/>
          <a:p>
            <a:r>
              <a:rPr lang="en-US" b="1" dirty="0">
                <a:solidFill>
                  <a:srgbClr val="6E4F8A"/>
                </a:solidFill>
              </a:rPr>
              <a:t>Explorando RStudio</a:t>
            </a:r>
          </a:p>
        </p:txBody>
      </p:sp>
      <p:sp>
        <p:nvSpPr>
          <p:cNvPr id="7" name="Elipse 6">
            <a:extLst>
              <a:ext uri="{FF2B5EF4-FFF2-40B4-BE49-F238E27FC236}">
                <a16:creationId xmlns:a16="http://schemas.microsoft.com/office/drawing/2014/main" id="{0F7596F6-F1E0-9EFF-6325-20CF2225F448}"/>
              </a:ext>
            </a:extLst>
          </p:cNvPr>
          <p:cNvSpPr/>
          <p:nvPr/>
        </p:nvSpPr>
        <p:spPr>
          <a:xfrm>
            <a:off x="1888868" y="1259866"/>
            <a:ext cx="202814" cy="202814"/>
          </a:xfrm>
          <a:prstGeom prst="ellipse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1</a:t>
            </a:r>
          </a:p>
        </p:txBody>
      </p:sp>
      <p:sp>
        <p:nvSpPr>
          <p:cNvPr id="13" name="Espaço Reservado para Número de Slide 12">
            <a:extLst>
              <a:ext uri="{FF2B5EF4-FFF2-40B4-BE49-F238E27FC236}">
                <a16:creationId xmlns:a16="http://schemas.microsoft.com/office/drawing/2014/main" id="{27A9DB9A-91DE-34CE-B45A-5DB360683A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B5B39C-3780-455C-80CA-14351220CBC6}" type="slidenum">
              <a:rPr lang="en-US" smtClean="0"/>
              <a:t>9</a:t>
            </a:fld>
            <a:endParaRPr lang="en-US"/>
          </a:p>
        </p:txBody>
      </p:sp>
      <p:sp>
        <p:nvSpPr>
          <p:cNvPr id="14" name="Retângulo 13">
            <a:extLst>
              <a:ext uri="{FF2B5EF4-FFF2-40B4-BE49-F238E27FC236}">
                <a16:creationId xmlns:a16="http://schemas.microsoft.com/office/drawing/2014/main" id="{A147177F-CD09-5C01-724D-878D26059B77}"/>
              </a:ext>
            </a:extLst>
          </p:cNvPr>
          <p:cNvSpPr/>
          <p:nvPr/>
        </p:nvSpPr>
        <p:spPr>
          <a:xfrm>
            <a:off x="2127814" y="1388634"/>
            <a:ext cx="4379989" cy="3008268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CaixaDeTexto 14">
            <a:extLst>
              <a:ext uri="{FF2B5EF4-FFF2-40B4-BE49-F238E27FC236}">
                <a16:creationId xmlns:a16="http://schemas.microsoft.com/office/drawing/2014/main" id="{8EB8ACA0-AAB6-1DA3-335D-2C0F608019B6}"/>
              </a:ext>
            </a:extLst>
          </p:cNvPr>
          <p:cNvSpPr txBox="1"/>
          <p:nvPr/>
        </p:nvSpPr>
        <p:spPr>
          <a:xfrm>
            <a:off x="603300" y="1234315"/>
            <a:ext cx="1348446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050" dirty="0"/>
              <a:t>Abrir um novo script</a:t>
            </a:r>
            <a:endParaRPr lang="en-US" sz="1050" dirty="0"/>
          </a:p>
        </p:txBody>
      </p:sp>
      <p:sp>
        <p:nvSpPr>
          <p:cNvPr id="5" name="Elipse 4">
            <a:extLst>
              <a:ext uri="{FF2B5EF4-FFF2-40B4-BE49-F238E27FC236}">
                <a16:creationId xmlns:a16="http://schemas.microsoft.com/office/drawing/2014/main" id="{EBBC284B-624D-7212-8CB6-63847592CFD1}"/>
              </a:ext>
            </a:extLst>
          </p:cNvPr>
          <p:cNvSpPr/>
          <p:nvPr/>
        </p:nvSpPr>
        <p:spPr>
          <a:xfrm>
            <a:off x="1888868" y="2064019"/>
            <a:ext cx="202814" cy="202814"/>
          </a:xfrm>
          <a:prstGeom prst="ellipse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2</a:t>
            </a: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7D61DC48-9220-2BF0-C593-15FAED57283C}"/>
              </a:ext>
            </a:extLst>
          </p:cNvPr>
          <p:cNvSpPr txBox="1"/>
          <p:nvPr/>
        </p:nvSpPr>
        <p:spPr>
          <a:xfrm>
            <a:off x="750917" y="1957677"/>
            <a:ext cx="1137951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050" dirty="0"/>
              <a:t>Aba onde vamos escrever o script</a:t>
            </a:r>
            <a:endParaRPr lang="en-US" sz="1050" dirty="0"/>
          </a:p>
        </p:txBody>
      </p:sp>
      <p:sp>
        <p:nvSpPr>
          <p:cNvPr id="8" name="Retângulo 7">
            <a:extLst>
              <a:ext uri="{FF2B5EF4-FFF2-40B4-BE49-F238E27FC236}">
                <a16:creationId xmlns:a16="http://schemas.microsoft.com/office/drawing/2014/main" id="{A74F9231-F08F-0D25-93AF-93D495C7AF49}"/>
              </a:ext>
            </a:extLst>
          </p:cNvPr>
          <p:cNvSpPr/>
          <p:nvPr/>
        </p:nvSpPr>
        <p:spPr>
          <a:xfrm>
            <a:off x="2123768" y="1180273"/>
            <a:ext cx="270297" cy="14809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tângulo 2">
            <a:extLst>
              <a:ext uri="{FF2B5EF4-FFF2-40B4-BE49-F238E27FC236}">
                <a16:creationId xmlns:a16="http://schemas.microsoft.com/office/drawing/2014/main" id="{14A118E0-0E24-4ECD-0AF0-174713F2E7C2}"/>
              </a:ext>
            </a:extLst>
          </p:cNvPr>
          <p:cNvSpPr/>
          <p:nvPr/>
        </p:nvSpPr>
        <p:spPr>
          <a:xfrm>
            <a:off x="2123768" y="4432929"/>
            <a:ext cx="4379989" cy="2425071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Elipse 8">
            <a:extLst>
              <a:ext uri="{FF2B5EF4-FFF2-40B4-BE49-F238E27FC236}">
                <a16:creationId xmlns:a16="http://schemas.microsoft.com/office/drawing/2014/main" id="{72BAF8E6-5A1F-9E88-EF27-46E5E894EE83}"/>
              </a:ext>
            </a:extLst>
          </p:cNvPr>
          <p:cNvSpPr/>
          <p:nvPr/>
        </p:nvSpPr>
        <p:spPr>
          <a:xfrm>
            <a:off x="1888868" y="4484826"/>
            <a:ext cx="202814" cy="202814"/>
          </a:xfrm>
          <a:prstGeom prst="ellipse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200" dirty="0"/>
              <a:t>3</a:t>
            </a:r>
            <a:endParaRPr lang="en-US" sz="1200" dirty="0"/>
          </a:p>
        </p:txBody>
      </p:sp>
      <p:sp>
        <p:nvSpPr>
          <p:cNvPr id="10" name="CaixaDeTexto 9">
            <a:extLst>
              <a:ext uri="{FF2B5EF4-FFF2-40B4-BE49-F238E27FC236}">
                <a16:creationId xmlns:a16="http://schemas.microsoft.com/office/drawing/2014/main" id="{7E036045-8E8A-2169-3575-32DBEB9C84D5}"/>
              </a:ext>
            </a:extLst>
          </p:cNvPr>
          <p:cNvSpPr txBox="1"/>
          <p:nvPr/>
        </p:nvSpPr>
        <p:spPr>
          <a:xfrm>
            <a:off x="743237" y="4586233"/>
            <a:ext cx="1348445" cy="90024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050" b="1" dirty="0"/>
              <a:t>Console</a:t>
            </a:r>
            <a:r>
              <a:rPr lang="pt-BR" sz="1050" dirty="0"/>
              <a:t>:</a:t>
            </a:r>
          </a:p>
          <a:p>
            <a:pPr algn="ctr"/>
            <a:r>
              <a:rPr lang="pt-BR" sz="1050" dirty="0"/>
              <a:t>Ambiente onde os resultados do script rodado será impresso/mostrado</a:t>
            </a:r>
            <a:endParaRPr lang="en-US" sz="1050" dirty="0"/>
          </a:p>
        </p:txBody>
      </p:sp>
      <p:sp>
        <p:nvSpPr>
          <p:cNvPr id="11" name="Retângulo 10">
            <a:extLst>
              <a:ext uri="{FF2B5EF4-FFF2-40B4-BE49-F238E27FC236}">
                <a16:creationId xmlns:a16="http://schemas.microsoft.com/office/drawing/2014/main" id="{4E730EA9-9F98-3240-FE15-1C8641DCFB4A}"/>
              </a:ext>
            </a:extLst>
          </p:cNvPr>
          <p:cNvSpPr/>
          <p:nvPr/>
        </p:nvSpPr>
        <p:spPr>
          <a:xfrm>
            <a:off x="6511848" y="1397592"/>
            <a:ext cx="3620557" cy="2872851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CaixaDeTexto 11">
            <a:extLst>
              <a:ext uri="{FF2B5EF4-FFF2-40B4-BE49-F238E27FC236}">
                <a16:creationId xmlns:a16="http://schemas.microsoft.com/office/drawing/2014/main" id="{AA43891B-2EB6-8DF6-D95C-B703F53C4371}"/>
              </a:ext>
            </a:extLst>
          </p:cNvPr>
          <p:cNvSpPr txBox="1"/>
          <p:nvPr/>
        </p:nvSpPr>
        <p:spPr>
          <a:xfrm>
            <a:off x="10132405" y="1361273"/>
            <a:ext cx="1348445" cy="12234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050" b="1" dirty="0"/>
              <a:t>Ambiente</a:t>
            </a:r>
            <a:r>
              <a:rPr lang="pt-BR" sz="1050" dirty="0"/>
              <a:t>:</a:t>
            </a:r>
          </a:p>
          <a:p>
            <a:pPr algn="ctr"/>
            <a:r>
              <a:rPr lang="pt-BR" sz="1050" dirty="0"/>
              <a:t>Ambiente onde os arquivos carregados e criados ficarão amostra para acesso</a:t>
            </a:r>
            <a:endParaRPr lang="en-US" sz="1050" dirty="0"/>
          </a:p>
        </p:txBody>
      </p:sp>
      <p:sp>
        <p:nvSpPr>
          <p:cNvPr id="16" name="CaixaDeTexto 15">
            <a:extLst>
              <a:ext uri="{FF2B5EF4-FFF2-40B4-BE49-F238E27FC236}">
                <a16:creationId xmlns:a16="http://schemas.microsoft.com/office/drawing/2014/main" id="{37F119D9-03AD-5B71-B339-76E853A7BF08}"/>
              </a:ext>
            </a:extLst>
          </p:cNvPr>
          <p:cNvSpPr txBox="1"/>
          <p:nvPr/>
        </p:nvSpPr>
        <p:spPr>
          <a:xfrm>
            <a:off x="10100318" y="4236996"/>
            <a:ext cx="1348445" cy="12234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050" dirty="0"/>
              <a:t>Ambiente que permite navegar pelo computador, acessar pastas, visualizar gráficos e procurar por pacotes/funções</a:t>
            </a:r>
            <a:endParaRPr lang="en-US" sz="1050" dirty="0"/>
          </a:p>
        </p:txBody>
      </p:sp>
      <p:sp>
        <p:nvSpPr>
          <p:cNvPr id="17" name="Retângulo 16">
            <a:extLst>
              <a:ext uri="{FF2B5EF4-FFF2-40B4-BE49-F238E27FC236}">
                <a16:creationId xmlns:a16="http://schemas.microsoft.com/office/drawing/2014/main" id="{991C1E44-B866-D965-127D-A065628D7679}"/>
              </a:ext>
            </a:extLst>
          </p:cNvPr>
          <p:cNvSpPr/>
          <p:nvPr/>
        </p:nvSpPr>
        <p:spPr>
          <a:xfrm>
            <a:off x="6511847" y="4279400"/>
            <a:ext cx="3620557" cy="2569641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tângulo 17">
            <a:extLst>
              <a:ext uri="{FF2B5EF4-FFF2-40B4-BE49-F238E27FC236}">
                <a16:creationId xmlns:a16="http://schemas.microsoft.com/office/drawing/2014/main" id="{58DC7726-CF61-9D02-F1E6-34B9283DFC64}"/>
              </a:ext>
            </a:extLst>
          </p:cNvPr>
          <p:cNvSpPr/>
          <p:nvPr/>
        </p:nvSpPr>
        <p:spPr>
          <a:xfrm>
            <a:off x="2898700" y="1204515"/>
            <a:ext cx="165513" cy="12385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Elipse 18">
            <a:extLst>
              <a:ext uri="{FF2B5EF4-FFF2-40B4-BE49-F238E27FC236}">
                <a16:creationId xmlns:a16="http://schemas.microsoft.com/office/drawing/2014/main" id="{12FA9642-EC1D-5ABA-3375-2A6408754DF8}"/>
              </a:ext>
            </a:extLst>
          </p:cNvPr>
          <p:cNvSpPr/>
          <p:nvPr/>
        </p:nvSpPr>
        <p:spPr>
          <a:xfrm>
            <a:off x="10164492" y="4194088"/>
            <a:ext cx="202814" cy="202814"/>
          </a:xfrm>
          <a:prstGeom prst="ellipse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200" dirty="0"/>
              <a:t>5</a:t>
            </a:r>
          </a:p>
        </p:txBody>
      </p:sp>
      <p:sp>
        <p:nvSpPr>
          <p:cNvPr id="20" name="Elipse 19">
            <a:extLst>
              <a:ext uri="{FF2B5EF4-FFF2-40B4-BE49-F238E27FC236}">
                <a16:creationId xmlns:a16="http://schemas.microsoft.com/office/drawing/2014/main" id="{EE58FCAC-5D1E-B7FA-CCDB-8822EF59B6F1}"/>
              </a:ext>
            </a:extLst>
          </p:cNvPr>
          <p:cNvSpPr/>
          <p:nvPr/>
        </p:nvSpPr>
        <p:spPr>
          <a:xfrm>
            <a:off x="10199887" y="1328365"/>
            <a:ext cx="202814" cy="202814"/>
          </a:xfrm>
          <a:prstGeom prst="ellipse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200" dirty="0"/>
              <a:t>4</a:t>
            </a:r>
            <a:endParaRPr lang="en-US" sz="1200" dirty="0"/>
          </a:p>
        </p:txBody>
      </p:sp>
      <p:sp>
        <p:nvSpPr>
          <p:cNvPr id="21" name="Elipse 20">
            <a:extLst>
              <a:ext uri="{FF2B5EF4-FFF2-40B4-BE49-F238E27FC236}">
                <a16:creationId xmlns:a16="http://schemas.microsoft.com/office/drawing/2014/main" id="{D45B66ED-AB12-D82D-555D-A257EF5DC591}"/>
              </a:ext>
            </a:extLst>
          </p:cNvPr>
          <p:cNvSpPr/>
          <p:nvPr/>
        </p:nvSpPr>
        <p:spPr>
          <a:xfrm>
            <a:off x="2880049" y="1370718"/>
            <a:ext cx="202814" cy="202814"/>
          </a:xfrm>
          <a:prstGeom prst="ellipse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200" dirty="0"/>
              <a:t>6</a:t>
            </a:r>
          </a:p>
        </p:txBody>
      </p:sp>
      <p:sp>
        <p:nvSpPr>
          <p:cNvPr id="22" name="CaixaDeTexto 21">
            <a:extLst>
              <a:ext uri="{FF2B5EF4-FFF2-40B4-BE49-F238E27FC236}">
                <a16:creationId xmlns:a16="http://schemas.microsoft.com/office/drawing/2014/main" id="{7C8FD0C7-3C15-72EB-3514-254CF0D2B922}"/>
              </a:ext>
            </a:extLst>
          </p:cNvPr>
          <p:cNvSpPr txBox="1"/>
          <p:nvPr/>
        </p:nvSpPr>
        <p:spPr>
          <a:xfrm>
            <a:off x="2664192" y="1655127"/>
            <a:ext cx="1348445" cy="17081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050" dirty="0"/>
              <a:t>Icone que você clica para salvar o script.</a:t>
            </a:r>
            <a:br>
              <a:rPr lang="pt-BR" sz="1050" dirty="0"/>
            </a:br>
            <a:r>
              <a:rPr lang="pt-BR" sz="1050" dirty="0"/>
              <a:t>Se o script não está salvo em lugar algum, então uma janela vai abrir pedindo para você escolher onde salvar</a:t>
            </a:r>
            <a:endParaRPr lang="en-US" sz="1050" dirty="0"/>
          </a:p>
        </p:txBody>
      </p:sp>
    </p:spTree>
    <p:extLst>
      <p:ext uri="{BB962C8B-B14F-4D97-AF65-F5344CB8AC3E}">
        <p14:creationId xmlns:p14="http://schemas.microsoft.com/office/powerpoint/2010/main" val="270533787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52074F-9C23-F993-2220-F2A82FDB4F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m 3" descr="Tela de computador com texto preto sobre fundo branco&#10;&#10;O conteúdo gerado por IA pode estar incorreto.">
            <a:extLst>
              <a:ext uri="{FF2B5EF4-FFF2-40B4-BE49-F238E27FC236}">
                <a16:creationId xmlns:a16="http://schemas.microsoft.com/office/drawing/2014/main" id="{13587F3F-1F6C-8EA8-723A-4408790004F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23769" y="787911"/>
            <a:ext cx="8008636" cy="6052173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96EFE7F6-4DD7-7BBC-1733-5CD2B7D675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5523271" cy="931739"/>
          </a:xfrm>
        </p:spPr>
        <p:txBody>
          <a:bodyPr/>
          <a:lstStyle/>
          <a:p>
            <a:r>
              <a:rPr lang="en-US" b="1" dirty="0">
                <a:solidFill>
                  <a:srgbClr val="6E4F8A"/>
                </a:solidFill>
              </a:rPr>
              <a:t>Explorando RStudio</a:t>
            </a:r>
          </a:p>
        </p:txBody>
      </p:sp>
      <p:sp>
        <p:nvSpPr>
          <p:cNvPr id="7" name="Elipse 6">
            <a:extLst>
              <a:ext uri="{FF2B5EF4-FFF2-40B4-BE49-F238E27FC236}">
                <a16:creationId xmlns:a16="http://schemas.microsoft.com/office/drawing/2014/main" id="{24799AC6-FC7F-01DB-F033-3B08EA81D99F}"/>
              </a:ext>
            </a:extLst>
          </p:cNvPr>
          <p:cNvSpPr/>
          <p:nvPr/>
        </p:nvSpPr>
        <p:spPr>
          <a:xfrm>
            <a:off x="1888868" y="1259866"/>
            <a:ext cx="202814" cy="202814"/>
          </a:xfrm>
          <a:prstGeom prst="ellipse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1</a:t>
            </a:r>
          </a:p>
        </p:txBody>
      </p:sp>
      <p:sp>
        <p:nvSpPr>
          <p:cNvPr id="13" name="Espaço Reservado para Número de Slide 12">
            <a:extLst>
              <a:ext uri="{FF2B5EF4-FFF2-40B4-BE49-F238E27FC236}">
                <a16:creationId xmlns:a16="http://schemas.microsoft.com/office/drawing/2014/main" id="{5C641BB4-EDCE-E954-46EE-956B2ED25F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B5B39C-3780-455C-80CA-14351220CBC6}" type="slidenum">
              <a:rPr lang="en-US" smtClean="0"/>
              <a:t>10</a:t>
            </a:fld>
            <a:endParaRPr lang="en-US"/>
          </a:p>
        </p:txBody>
      </p:sp>
      <p:sp>
        <p:nvSpPr>
          <p:cNvPr id="14" name="Retângulo 13">
            <a:extLst>
              <a:ext uri="{FF2B5EF4-FFF2-40B4-BE49-F238E27FC236}">
                <a16:creationId xmlns:a16="http://schemas.microsoft.com/office/drawing/2014/main" id="{A2B6ED46-CA87-9EF6-2F91-5B790E955B84}"/>
              </a:ext>
            </a:extLst>
          </p:cNvPr>
          <p:cNvSpPr/>
          <p:nvPr/>
        </p:nvSpPr>
        <p:spPr>
          <a:xfrm>
            <a:off x="2127814" y="1388634"/>
            <a:ext cx="4379989" cy="3008268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CaixaDeTexto 14">
            <a:extLst>
              <a:ext uri="{FF2B5EF4-FFF2-40B4-BE49-F238E27FC236}">
                <a16:creationId xmlns:a16="http://schemas.microsoft.com/office/drawing/2014/main" id="{728BE65E-DA04-2598-81C4-C3077C4AB088}"/>
              </a:ext>
            </a:extLst>
          </p:cNvPr>
          <p:cNvSpPr txBox="1"/>
          <p:nvPr/>
        </p:nvSpPr>
        <p:spPr>
          <a:xfrm>
            <a:off x="603300" y="1234315"/>
            <a:ext cx="1348446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050" dirty="0"/>
              <a:t>Abrir um novo script</a:t>
            </a:r>
            <a:endParaRPr lang="en-US" sz="1050" dirty="0"/>
          </a:p>
        </p:txBody>
      </p:sp>
      <p:sp>
        <p:nvSpPr>
          <p:cNvPr id="5" name="Elipse 4">
            <a:extLst>
              <a:ext uri="{FF2B5EF4-FFF2-40B4-BE49-F238E27FC236}">
                <a16:creationId xmlns:a16="http://schemas.microsoft.com/office/drawing/2014/main" id="{267449A0-C83E-7016-C5FA-C6CD9BF72D3D}"/>
              </a:ext>
            </a:extLst>
          </p:cNvPr>
          <p:cNvSpPr/>
          <p:nvPr/>
        </p:nvSpPr>
        <p:spPr>
          <a:xfrm>
            <a:off x="1888868" y="2064019"/>
            <a:ext cx="202814" cy="202814"/>
          </a:xfrm>
          <a:prstGeom prst="ellipse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2</a:t>
            </a: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81DCB26F-7A43-63D9-CAC4-3431F738FE05}"/>
              </a:ext>
            </a:extLst>
          </p:cNvPr>
          <p:cNvSpPr txBox="1"/>
          <p:nvPr/>
        </p:nvSpPr>
        <p:spPr>
          <a:xfrm>
            <a:off x="750917" y="1957677"/>
            <a:ext cx="1137951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050" dirty="0"/>
              <a:t>Aba onde vamos escrever o script</a:t>
            </a:r>
            <a:endParaRPr lang="en-US" sz="1050" dirty="0"/>
          </a:p>
        </p:txBody>
      </p:sp>
      <p:sp>
        <p:nvSpPr>
          <p:cNvPr id="8" name="Retângulo 7">
            <a:extLst>
              <a:ext uri="{FF2B5EF4-FFF2-40B4-BE49-F238E27FC236}">
                <a16:creationId xmlns:a16="http://schemas.microsoft.com/office/drawing/2014/main" id="{A0F6EBFD-569D-6A0B-7C2C-2AA50A454C3D}"/>
              </a:ext>
            </a:extLst>
          </p:cNvPr>
          <p:cNvSpPr/>
          <p:nvPr/>
        </p:nvSpPr>
        <p:spPr>
          <a:xfrm>
            <a:off x="2123768" y="1180273"/>
            <a:ext cx="270297" cy="14809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tângulo 2">
            <a:extLst>
              <a:ext uri="{FF2B5EF4-FFF2-40B4-BE49-F238E27FC236}">
                <a16:creationId xmlns:a16="http://schemas.microsoft.com/office/drawing/2014/main" id="{A04EC1B9-D596-621C-5BC2-D7E4581F56C4}"/>
              </a:ext>
            </a:extLst>
          </p:cNvPr>
          <p:cNvSpPr/>
          <p:nvPr/>
        </p:nvSpPr>
        <p:spPr>
          <a:xfrm>
            <a:off x="2123768" y="4432929"/>
            <a:ext cx="4379989" cy="2425071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Elipse 8">
            <a:extLst>
              <a:ext uri="{FF2B5EF4-FFF2-40B4-BE49-F238E27FC236}">
                <a16:creationId xmlns:a16="http://schemas.microsoft.com/office/drawing/2014/main" id="{9E926B94-3675-3DE2-58C3-ECE1850BDCEA}"/>
              </a:ext>
            </a:extLst>
          </p:cNvPr>
          <p:cNvSpPr/>
          <p:nvPr/>
        </p:nvSpPr>
        <p:spPr>
          <a:xfrm>
            <a:off x="1888868" y="4484826"/>
            <a:ext cx="202814" cy="202814"/>
          </a:xfrm>
          <a:prstGeom prst="ellipse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200" dirty="0"/>
              <a:t>3</a:t>
            </a:r>
            <a:endParaRPr lang="en-US" sz="1200" dirty="0"/>
          </a:p>
        </p:txBody>
      </p:sp>
      <p:sp>
        <p:nvSpPr>
          <p:cNvPr id="10" name="CaixaDeTexto 9">
            <a:extLst>
              <a:ext uri="{FF2B5EF4-FFF2-40B4-BE49-F238E27FC236}">
                <a16:creationId xmlns:a16="http://schemas.microsoft.com/office/drawing/2014/main" id="{A55B4261-DF16-FCF8-CAC7-6EF6ABB15B1D}"/>
              </a:ext>
            </a:extLst>
          </p:cNvPr>
          <p:cNvSpPr txBox="1"/>
          <p:nvPr/>
        </p:nvSpPr>
        <p:spPr>
          <a:xfrm>
            <a:off x="743237" y="4586233"/>
            <a:ext cx="1348445" cy="90024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050" b="1" dirty="0"/>
              <a:t>Console</a:t>
            </a:r>
            <a:r>
              <a:rPr lang="pt-BR" sz="1050" dirty="0"/>
              <a:t>:</a:t>
            </a:r>
          </a:p>
          <a:p>
            <a:pPr algn="ctr"/>
            <a:r>
              <a:rPr lang="pt-BR" sz="1050" dirty="0"/>
              <a:t>Ambiente onde os resultados do script rodado será impresso/mostrado</a:t>
            </a:r>
            <a:endParaRPr lang="en-US" sz="1050" dirty="0"/>
          </a:p>
        </p:txBody>
      </p:sp>
      <p:sp>
        <p:nvSpPr>
          <p:cNvPr id="11" name="Retângulo 10">
            <a:extLst>
              <a:ext uri="{FF2B5EF4-FFF2-40B4-BE49-F238E27FC236}">
                <a16:creationId xmlns:a16="http://schemas.microsoft.com/office/drawing/2014/main" id="{9E2A810E-86AA-773C-D977-0452EDE0A560}"/>
              </a:ext>
            </a:extLst>
          </p:cNvPr>
          <p:cNvSpPr/>
          <p:nvPr/>
        </p:nvSpPr>
        <p:spPr>
          <a:xfrm>
            <a:off x="6511848" y="1397592"/>
            <a:ext cx="3620557" cy="2872851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CaixaDeTexto 11">
            <a:extLst>
              <a:ext uri="{FF2B5EF4-FFF2-40B4-BE49-F238E27FC236}">
                <a16:creationId xmlns:a16="http://schemas.microsoft.com/office/drawing/2014/main" id="{AFD195DF-0531-FC8B-8102-6A3C445CB184}"/>
              </a:ext>
            </a:extLst>
          </p:cNvPr>
          <p:cNvSpPr txBox="1"/>
          <p:nvPr/>
        </p:nvSpPr>
        <p:spPr>
          <a:xfrm>
            <a:off x="10132405" y="1361273"/>
            <a:ext cx="1348445" cy="12234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050" b="1" dirty="0"/>
              <a:t>Ambiente</a:t>
            </a:r>
            <a:r>
              <a:rPr lang="pt-BR" sz="1050" dirty="0"/>
              <a:t>:</a:t>
            </a:r>
          </a:p>
          <a:p>
            <a:pPr algn="ctr"/>
            <a:r>
              <a:rPr lang="pt-BR" sz="1050" dirty="0"/>
              <a:t>Ambiente onde os arquivos carregados e criados ficarão amostra para acesso</a:t>
            </a:r>
            <a:endParaRPr lang="en-US" sz="1050" dirty="0"/>
          </a:p>
        </p:txBody>
      </p:sp>
      <p:sp>
        <p:nvSpPr>
          <p:cNvPr id="16" name="CaixaDeTexto 15">
            <a:extLst>
              <a:ext uri="{FF2B5EF4-FFF2-40B4-BE49-F238E27FC236}">
                <a16:creationId xmlns:a16="http://schemas.microsoft.com/office/drawing/2014/main" id="{C7A5E65C-E42F-A05D-6DA8-25CB47336E8C}"/>
              </a:ext>
            </a:extLst>
          </p:cNvPr>
          <p:cNvSpPr txBox="1"/>
          <p:nvPr/>
        </p:nvSpPr>
        <p:spPr>
          <a:xfrm>
            <a:off x="10100318" y="4236996"/>
            <a:ext cx="1348445" cy="12234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050" dirty="0"/>
              <a:t>Ambiente que permite navegar pelo computador, acessar pastas, visualizar gráficos e procurar por pacotes/funções</a:t>
            </a:r>
            <a:endParaRPr lang="en-US" sz="1050" dirty="0"/>
          </a:p>
        </p:txBody>
      </p:sp>
      <p:sp>
        <p:nvSpPr>
          <p:cNvPr id="17" name="Retângulo 16">
            <a:extLst>
              <a:ext uri="{FF2B5EF4-FFF2-40B4-BE49-F238E27FC236}">
                <a16:creationId xmlns:a16="http://schemas.microsoft.com/office/drawing/2014/main" id="{FB97D8EC-E925-AFA0-00B7-35CE6AB6F364}"/>
              </a:ext>
            </a:extLst>
          </p:cNvPr>
          <p:cNvSpPr/>
          <p:nvPr/>
        </p:nvSpPr>
        <p:spPr>
          <a:xfrm>
            <a:off x="6511847" y="4279400"/>
            <a:ext cx="3620557" cy="2569641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tângulo 17">
            <a:extLst>
              <a:ext uri="{FF2B5EF4-FFF2-40B4-BE49-F238E27FC236}">
                <a16:creationId xmlns:a16="http://schemas.microsoft.com/office/drawing/2014/main" id="{B77FD283-78DE-4AD8-4D6B-717FE183BC21}"/>
              </a:ext>
            </a:extLst>
          </p:cNvPr>
          <p:cNvSpPr/>
          <p:nvPr/>
        </p:nvSpPr>
        <p:spPr>
          <a:xfrm>
            <a:off x="2898700" y="1204515"/>
            <a:ext cx="165513" cy="12385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Elipse 18">
            <a:extLst>
              <a:ext uri="{FF2B5EF4-FFF2-40B4-BE49-F238E27FC236}">
                <a16:creationId xmlns:a16="http://schemas.microsoft.com/office/drawing/2014/main" id="{8C86C0AE-29AE-1A1F-1D88-76E77DC1735D}"/>
              </a:ext>
            </a:extLst>
          </p:cNvPr>
          <p:cNvSpPr/>
          <p:nvPr/>
        </p:nvSpPr>
        <p:spPr>
          <a:xfrm>
            <a:off x="10164492" y="4194088"/>
            <a:ext cx="202814" cy="202814"/>
          </a:xfrm>
          <a:prstGeom prst="ellipse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200" dirty="0"/>
              <a:t>5</a:t>
            </a:r>
          </a:p>
        </p:txBody>
      </p:sp>
      <p:sp>
        <p:nvSpPr>
          <p:cNvPr id="20" name="Elipse 19">
            <a:extLst>
              <a:ext uri="{FF2B5EF4-FFF2-40B4-BE49-F238E27FC236}">
                <a16:creationId xmlns:a16="http://schemas.microsoft.com/office/drawing/2014/main" id="{B245EA06-71E0-BD1A-887C-4DDA79B8CAB0}"/>
              </a:ext>
            </a:extLst>
          </p:cNvPr>
          <p:cNvSpPr/>
          <p:nvPr/>
        </p:nvSpPr>
        <p:spPr>
          <a:xfrm>
            <a:off x="10199887" y="1328365"/>
            <a:ext cx="202814" cy="202814"/>
          </a:xfrm>
          <a:prstGeom prst="ellipse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200" dirty="0"/>
              <a:t>4</a:t>
            </a:r>
            <a:endParaRPr lang="en-US" sz="1200" dirty="0"/>
          </a:p>
        </p:txBody>
      </p:sp>
      <p:sp>
        <p:nvSpPr>
          <p:cNvPr id="21" name="Elipse 20">
            <a:extLst>
              <a:ext uri="{FF2B5EF4-FFF2-40B4-BE49-F238E27FC236}">
                <a16:creationId xmlns:a16="http://schemas.microsoft.com/office/drawing/2014/main" id="{5DE8D28E-D63C-FB2F-8685-E2EBF0536DB6}"/>
              </a:ext>
            </a:extLst>
          </p:cNvPr>
          <p:cNvSpPr/>
          <p:nvPr/>
        </p:nvSpPr>
        <p:spPr>
          <a:xfrm>
            <a:off x="2880049" y="1370718"/>
            <a:ext cx="202814" cy="202814"/>
          </a:xfrm>
          <a:prstGeom prst="ellipse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200" dirty="0"/>
              <a:t>6</a:t>
            </a:r>
          </a:p>
        </p:txBody>
      </p:sp>
      <p:sp>
        <p:nvSpPr>
          <p:cNvPr id="22" name="CaixaDeTexto 21">
            <a:extLst>
              <a:ext uri="{FF2B5EF4-FFF2-40B4-BE49-F238E27FC236}">
                <a16:creationId xmlns:a16="http://schemas.microsoft.com/office/drawing/2014/main" id="{C8802425-ECB8-4D54-6CE4-261334638CD7}"/>
              </a:ext>
            </a:extLst>
          </p:cNvPr>
          <p:cNvSpPr txBox="1"/>
          <p:nvPr/>
        </p:nvSpPr>
        <p:spPr>
          <a:xfrm>
            <a:off x="2664192" y="1655127"/>
            <a:ext cx="1348445" cy="17081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050" dirty="0"/>
              <a:t>Icone que você clica para salvar o script.</a:t>
            </a:r>
            <a:br>
              <a:rPr lang="pt-BR" sz="1050" dirty="0"/>
            </a:br>
            <a:r>
              <a:rPr lang="pt-BR" sz="1050" dirty="0"/>
              <a:t>Se o script não está salvo em lugar algum, então uma janela vai abrir pedindo para você escolher onde salvar</a:t>
            </a:r>
            <a:endParaRPr lang="en-US" sz="1050" dirty="0"/>
          </a:p>
        </p:txBody>
      </p:sp>
    </p:spTree>
    <p:extLst>
      <p:ext uri="{BB962C8B-B14F-4D97-AF65-F5344CB8AC3E}">
        <p14:creationId xmlns:p14="http://schemas.microsoft.com/office/powerpoint/2010/main" val="264866527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9A3E01-B15E-7AC1-CB08-27D6F09A48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" name="Imagem 23" descr="Interface gráfica do usuário, Aplicativo&#10;&#10;O conteúdo gerado por IA pode estar incorreto.">
            <a:extLst>
              <a:ext uri="{FF2B5EF4-FFF2-40B4-BE49-F238E27FC236}">
                <a16:creationId xmlns:a16="http://schemas.microsoft.com/office/drawing/2014/main" id="{BDD3810A-A4FD-7C1B-A553-2473098D729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18661" y="787911"/>
            <a:ext cx="8017604" cy="6052173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C53A8C29-79AA-704F-1B07-B96BCC3776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5523271" cy="931739"/>
          </a:xfrm>
        </p:spPr>
        <p:txBody>
          <a:bodyPr/>
          <a:lstStyle/>
          <a:p>
            <a:r>
              <a:rPr lang="en-US" b="1" dirty="0">
                <a:solidFill>
                  <a:srgbClr val="6E4F8A"/>
                </a:solidFill>
              </a:rPr>
              <a:t>Explorando RStudio</a:t>
            </a:r>
          </a:p>
        </p:txBody>
      </p:sp>
      <p:sp>
        <p:nvSpPr>
          <p:cNvPr id="13" name="Espaço Reservado para Número de Slide 12">
            <a:extLst>
              <a:ext uri="{FF2B5EF4-FFF2-40B4-BE49-F238E27FC236}">
                <a16:creationId xmlns:a16="http://schemas.microsoft.com/office/drawing/2014/main" id="{97EFB0AE-C1AC-08A9-6D57-8196CFB838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B5B39C-3780-455C-80CA-14351220CBC6}" type="slidenum">
              <a:rPr lang="en-US" smtClean="0"/>
              <a:t>11</a:t>
            </a:fld>
            <a:endParaRPr lang="en-US"/>
          </a:p>
        </p:txBody>
      </p:sp>
      <p:sp>
        <p:nvSpPr>
          <p:cNvPr id="8" name="Retângulo 7">
            <a:extLst>
              <a:ext uri="{FF2B5EF4-FFF2-40B4-BE49-F238E27FC236}">
                <a16:creationId xmlns:a16="http://schemas.microsoft.com/office/drawing/2014/main" id="{6DC069C4-0D9A-B948-E481-B7CCE906865E}"/>
              </a:ext>
            </a:extLst>
          </p:cNvPr>
          <p:cNvSpPr/>
          <p:nvPr/>
        </p:nvSpPr>
        <p:spPr>
          <a:xfrm>
            <a:off x="2118661" y="1014903"/>
            <a:ext cx="270297" cy="14809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CaixaDeTexto 21">
            <a:extLst>
              <a:ext uri="{FF2B5EF4-FFF2-40B4-BE49-F238E27FC236}">
                <a16:creationId xmlns:a16="http://schemas.microsoft.com/office/drawing/2014/main" id="{730FFB47-0577-9B82-05E2-D4F818BFA4E0}"/>
              </a:ext>
            </a:extLst>
          </p:cNvPr>
          <p:cNvSpPr txBox="1"/>
          <p:nvPr/>
        </p:nvSpPr>
        <p:spPr>
          <a:xfrm>
            <a:off x="1164163" y="3685849"/>
            <a:ext cx="954498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050" dirty="0"/>
              <a:t>Outra forma de salvar</a:t>
            </a:r>
            <a:endParaRPr lang="en-US" sz="1050" dirty="0"/>
          </a:p>
        </p:txBody>
      </p:sp>
      <p:sp>
        <p:nvSpPr>
          <p:cNvPr id="25" name="Retângulo 24">
            <a:extLst>
              <a:ext uri="{FF2B5EF4-FFF2-40B4-BE49-F238E27FC236}">
                <a16:creationId xmlns:a16="http://schemas.microsoft.com/office/drawing/2014/main" id="{7E47BD55-CA43-1F66-6714-9F4295561CAD}"/>
              </a:ext>
            </a:extLst>
          </p:cNvPr>
          <p:cNvSpPr/>
          <p:nvPr/>
        </p:nvSpPr>
        <p:spPr>
          <a:xfrm>
            <a:off x="2142928" y="3779400"/>
            <a:ext cx="2098332" cy="22839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6344000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023A9C-1EF9-E834-AAC5-6142F5336D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Imagem 5" descr="Tela de computador com texto preto sobre fundo branco&#10;&#10;O conteúdo gerado por IA pode estar incorreto.">
            <a:extLst>
              <a:ext uri="{FF2B5EF4-FFF2-40B4-BE49-F238E27FC236}">
                <a16:creationId xmlns:a16="http://schemas.microsoft.com/office/drawing/2014/main" id="{39AD06AA-ECFB-B88A-508B-BB2BD2F70E8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21077" y="787911"/>
            <a:ext cx="8026593" cy="6052173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9E66C5E9-301B-FB01-F29A-CFCD107967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5523271" cy="931739"/>
          </a:xfrm>
        </p:spPr>
        <p:txBody>
          <a:bodyPr/>
          <a:lstStyle/>
          <a:p>
            <a:r>
              <a:rPr lang="en-US" b="1" dirty="0">
                <a:solidFill>
                  <a:srgbClr val="6E4F8A"/>
                </a:solidFill>
              </a:rPr>
              <a:t>Explorando RStudio</a:t>
            </a:r>
          </a:p>
        </p:txBody>
      </p:sp>
      <p:sp>
        <p:nvSpPr>
          <p:cNvPr id="13" name="Espaço Reservado para Número de Slide 12">
            <a:extLst>
              <a:ext uri="{FF2B5EF4-FFF2-40B4-BE49-F238E27FC236}">
                <a16:creationId xmlns:a16="http://schemas.microsoft.com/office/drawing/2014/main" id="{0547723B-6F38-C664-C2BD-0922DAF239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B5B39C-3780-455C-80CA-14351220CBC6}" type="slidenum">
              <a:rPr lang="en-US" smtClean="0"/>
              <a:t>12</a:t>
            </a:fld>
            <a:endParaRPr lang="en-US"/>
          </a:p>
        </p:txBody>
      </p:sp>
      <p:sp>
        <p:nvSpPr>
          <p:cNvPr id="8" name="Retângulo 7">
            <a:extLst>
              <a:ext uri="{FF2B5EF4-FFF2-40B4-BE49-F238E27FC236}">
                <a16:creationId xmlns:a16="http://schemas.microsoft.com/office/drawing/2014/main" id="{A265709D-8B6A-7737-3630-2B40897F6325}"/>
              </a:ext>
            </a:extLst>
          </p:cNvPr>
          <p:cNvSpPr/>
          <p:nvPr/>
        </p:nvSpPr>
        <p:spPr>
          <a:xfrm>
            <a:off x="2118661" y="1270278"/>
            <a:ext cx="2135169" cy="16941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CaixaDeTexto 21">
            <a:extLst>
              <a:ext uri="{FF2B5EF4-FFF2-40B4-BE49-F238E27FC236}">
                <a16:creationId xmlns:a16="http://schemas.microsoft.com/office/drawing/2014/main" id="{BF9540AD-BA25-13E3-2F08-B7C07659BF49}"/>
              </a:ext>
            </a:extLst>
          </p:cNvPr>
          <p:cNvSpPr txBox="1"/>
          <p:nvPr/>
        </p:nvSpPr>
        <p:spPr>
          <a:xfrm>
            <a:off x="331948" y="1778233"/>
            <a:ext cx="1787921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050" dirty="0"/>
              <a:t>Outros tipos de documentos, scripts, materiais, que o R Studio pode produzir.</a:t>
            </a:r>
            <a:endParaRPr lang="en-US" sz="1050" dirty="0"/>
          </a:p>
        </p:txBody>
      </p:sp>
      <p:sp>
        <p:nvSpPr>
          <p:cNvPr id="25" name="Retângulo 24">
            <a:extLst>
              <a:ext uri="{FF2B5EF4-FFF2-40B4-BE49-F238E27FC236}">
                <a16:creationId xmlns:a16="http://schemas.microsoft.com/office/drawing/2014/main" id="{2D9286C1-A59C-5CF5-61CD-B508D8F9BF32}"/>
              </a:ext>
            </a:extLst>
          </p:cNvPr>
          <p:cNvSpPr/>
          <p:nvPr/>
        </p:nvSpPr>
        <p:spPr>
          <a:xfrm>
            <a:off x="4253830" y="1162995"/>
            <a:ext cx="1621676" cy="5325354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127669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59392C-6F5A-BD4C-3FE8-D01A3EFA89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Imagem 20" descr="Tela de computador com texto preto sobre fundo branco&#10;&#10;O conteúdo gerado por IA pode estar incorreto.">
            <a:extLst>
              <a:ext uri="{FF2B5EF4-FFF2-40B4-BE49-F238E27FC236}">
                <a16:creationId xmlns:a16="http://schemas.microsoft.com/office/drawing/2014/main" id="{35EE5D6A-2EA0-7565-4F71-D48BFF3B650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23768" y="787911"/>
            <a:ext cx="8051430" cy="6052173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D06E37E3-1019-2448-0ADC-510F762600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5523271" cy="931739"/>
          </a:xfrm>
        </p:spPr>
        <p:txBody>
          <a:bodyPr>
            <a:normAutofit fontScale="90000"/>
          </a:bodyPr>
          <a:lstStyle/>
          <a:p>
            <a:r>
              <a:rPr lang="en-US" b="1" dirty="0" err="1">
                <a:solidFill>
                  <a:srgbClr val="6E4F8A"/>
                </a:solidFill>
              </a:rPr>
              <a:t>Configurando</a:t>
            </a:r>
            <a:r>
              <a:rPr lang="en-US" b="1" dirty="0">
                <a:solidFill>
                  <a:srgbClr val="6E4F8A"/>
                </a:solidFill>
              </a:rPr>
              <a:t> o RStudio</a:t>
            </a:r>
          </a:p>
        </p:txBody>
      </p:sp>
      <p:sp>
        <p:nvSpPr>
          <p:cNvPr id="13" name="Espaço Reservado para Número de Slide 12">
            <a:extLst>
              <a:ext uri="{FF2B5EF4-FFF2-40B4-BE49-F238E27FC236}">
                <a16:creationId xmlns:a16="http://schemas.microsoft.com/office/drawing/2014/main" id="{E317E9E2-F115-67C9-8599-4C17C0A74B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B5B39C-3780-455C-80CA-14351220CBC6}" type="slidenum">
              <a:rPr lang="en-US" smtClean="0"/>
              <a:t>13</a:t>
            </a:fld>
            <a:endParaRPr lang="en-US"/>
          </a:p>
        </p:txBody>
      </p:sp>
      <p:sp>
        <p:nvSpPr>
          <p:cNvPr id="22" name="Retângulo 21">
            <a:extLst>
              <a:ext uri="{FF2B5EF4-FFF2-40B4-BE49-F238E27FC236}">
                <a16:creationId xmlns:a16="http://schemas.microsoft.com/office/drawing/2014/main" id="{03E79DE9-5DC4-AC68-13F8-6ED6D38CA0C7}"/>
              </a:ext>
            </a:extLst>
          </p:cNvPr>
          <p:cNvSpPr/>
          <p:nvPr/>
        </p:nvSpPr>
        <p:spPr>
          <a:xfrm>
            <a:off x="4584866" y="1005175"/>
            <a:ext cx="270297" cy="14809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tângulo 22">
            <a:extLst>
              <a:ext uri="{FF2B5EF4-FFF2-40B4-BE49-F238E27FC236}">
                <a16:creationId xmlns:a16="http://schemas.microsoft.com/office/drawing/2014/main" id="{9323CEC9-EA37-48E8-F8FC-78E2A9A1AB2E}"/>
              </a:ext>
            </a:extLst>
          </p:cNvPr>
          <p:cNvSpPr/>
          <p:nvPr/>
        </p:nvSpPr>
        <p:spPr>
          <a:xfrm>
            <a:off x="4584866" y="4095327"/>
            <a:ext cx="1884028" cy="233481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6382667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D8C8FF-D53F-FD8E-5A24-07E1F1C51E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Imagem 7" descr="Tela de computador com texto preto sobre fundo branco&#10;&#10;O conteúdo gerado por IA pode estar incorreto.">
            <a:extLst>
              <a:ext uri="{FF2B5EF4-FFF2-40B4-BE49-F238E27FC236}">
                <a16:creationId xmlns:a16="http://schemas.microsoft.com/office/drawing/2014/main" id="{482BA17D-ABE2-E6A1-ABD5-008F169B9D3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23769" y="783067"/>
            <a:ext cx="8051430" cy="6060655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9E15492D-3B5C-B659-0BF9-DF6C6FC99B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5523271" cy="931739"/>
          </a:xfrm>
        </p:spPr>
        <p:txBody>
          <a:bodyPr>
            <a:normAutofit fontScale="90000"/>
          </a:bodyPr>
          <a:lstStyle/>
          <a:p>
            <a:r>
              <a:rPr lang="en-US" b="1" dirty="0" err="1">
                <a:solidFill>
                  <a:srgbClr val="6E4F8A"/>
                </a:solidFill>
              </a:rPr>
              <a:t>Configurando</a:t>
            </a:r>
            <a:r>
              <a:rPr lang="en-US" b="1" dirty="0">
                <a:solidFill>
                  <a:srgbClr val="6E4F8A"/>
                </a:solidFill>
              </a:rPr>
              <a:t> o RStudio</a:t>
            </a:r>
          </a:p>
        </p:txBody>
      </p:sp>
      <p:sp>
        <p:nvSpPr>
          <p:cNvPr id="13" name="Espaço Reservado para Número de Slide 12">
            <a:extLst>
              <a:ext uri="{FF2B5EF4-FFF2-40B4-BE49-F238E27FC236}">
                <a16:creationId xmlns:a16="http://schemas.microsoft.com/office/drawing/2014/main" id="{4D79EF09-8944-BD92-5481-F670E16C7E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B5B39C-3780-455C-80CA-14351220CBC6}" type="slidenum">
              <a:rPr lang="en-US" smtClean="0"/>
              <a:t>14</a:t>
            </a:fld>
            <a:endParaRPr lang="en-US"/>
          </a:p>
        </p:txBody>
      </p:sp>
      <p:sp>
        <p:nvSpPr>
          <p:cNvPr id="23" name="Retângulo 22">
            <a:extLst>
              <a:ext uri="{FF2B5EF4-FFF2-40B4-BE49-F238E27FC236}">
                <a16:creationId xmlns:a16="http://schemas.microsoft.com/office/drawing/2014/main" id="{2D06F61A-18E5-9BAE-2786-E167CC95A66D}"/>
              </a:ext>
            </a:extLst>
          </p:cNvPr>
          <p:cNvSpPr/>
          <p:nvPr/>
        </p:nvSpPr>
        <p:spPr>
          <a:xfrm>
            <a:off x="3962295" y="2694544"/>
            <a:ext cx="901535" cy="27239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65450146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82</TotalTime>
  <Words>449</Words>
  <Application>Microsoft Office PowerPoint</Application>
  <PresentationFormat>Widescreen</PresentationFormat>
  <Paragraphs>100</Paragraphs>
  <Slides>14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14</vt:i4>
      </vt:variant>
    </vt:vector>
  </HeadingPairs>
  <TitlesOfParts>
    <vt:vector size="18" baseType="lpstr">
      <vt:lpstr>Aptos</vt:lpstr>
      <vt:lpstr>Aptos Display</vt:lpstr>
      <vt:lpstr>Arial</vt:lpstr>
      <vt:lpstr>Tema do Office</vt:lpstr>
      <vt:lpstr>Configurando o ambiente R e GitHub</vt:lpstr>
      <vt:lpstr>Baixando R</vt:lpstr>
      <vt:lpstr>Baixando R e RStudio</vt:lpstr>
      <vt:lpstr>Explorando RStudio</vt:lpstr>
      <vt:lpstr>Explorando RStudio</vt:lpstr>
      <vt:lpstr>Explorando RStudio</vt:lpstr>
      <vt:lpstr>Explorando RStudio</vt:lpstr>
      <vt:lpstr>Explorando RStudio</vt:lpstr>
      <vt:lpstr>Explorando RStudio</vt:lpstr>
      <vt:lpstr>Explorando RStudio</vt:lpstr>
      <vt:lpstr>Explorando RStudio</vt:lpstr>
      <vt:lpstr>Explorando RStudio</vt:lpstr>
      <vt:lpstr>Configurando o RStudio</vt:lpstr>
      <vt:lpstr>Configurando o RStudio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Lautenschlager Rodrigues, Lais</dc:creator>
  <cp:lastModifiedBy>Lautenschlager Rodrigues, Lais</cp:lastModifiedBy>
  <cp:revision>5</cp:revision>
  <dcterms:created xsi:type="dcterms:W3CDTF">2025-12-24T15:52:49Z</dcterms:created>
  <dcterms:modified xsi:type="dcterms:W3CDTF">2025-12-24T17:16:51Z</dcterms:modified>
</cp:coreProperties>
</file>