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85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2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4F8A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97" d="100"/>
          <a:sy n="97" d="100"/>
        </p:scale>
        <p:origin x="7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29467-8579-4FA0-8669-C9CFBABA9C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7D573-0EE4-4C3A-88EF-224C1F95AF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0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94398-97E2-52C6-9F0B-800C13A77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EED938-CD58-C48A-E901-57759BF04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ED22D-C697-CBF2-589D-7962819A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E58C-7D0A-4DCB-B57B-A443E264A768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6E4E91-A0D5-217F-12D8-8803FA26C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740558-9399-C016-4204-73C0539F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4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85D67-D9D5-36E7-63D5-7BB57D74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59729D-2418-F2E0-5FA7-89EF11D92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745FD4-F2F2-A9A6-C734-AD47ADB7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27A5-40BD-415A-BF23-4B69539A0572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97038-EE39-4AAA-92FE-20E3F335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31B090-ADC6-2612-1660-F3CD6094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48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95055-298D-4D7F-E9E8-262F699B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5CF964-D810-1714-25A2-C81DA382C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898F54-375C-AA29-32BA-0620F262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BDFC-7B55-406A-B5D7-AC65E7DE3A6E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058036-D3BE-2FB1-806C-68CE566E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ECD48-2DE3-A34F-975B-EB8B1A5A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8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88DCE-7282-FBFB-B444-A5C4707D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2EC483-F543-6557-9C80-5C95591F0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6D0137-77A0-82EB-D031-178EE6BB6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1A195B-4A57-BD5E-4A6F-217DB31B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955DF-5092-435A-8356-53F36D338F9B}" type="datetime1">
              <a:rPr lang="en-US" smtClean="0"/>
              <a:t>12/26/2025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FD7210-6D57-FD5C-54A8-181EA60D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B8C8AC-D518-2451-8CCD-4EC638D3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5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43773-C553-9C1C-1503-473A00C39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21B76D-619F-F345-6EC1-A4B6E927E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D67093-0ACC-E07F-9FF7-A28E85B94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C397D8-7EC5-FD6F-B784-8379CE343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A7895A-B285-A641-0D0E-C96913AA4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745A42-EABA-5F50-7972-07CC8C76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7FD32-A186-445C-BBAD-F11C8740C465}" type="datetime1">
              <a:rPr lang="en-US" smtClean="0"/>
              <a:t>12/26/2025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285213-08EF-1BA7-4C81-23860FDA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466E2D-448B-2E34-907C-A0E6E72B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1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09425-A5CA-51C6-0E24-A416FA07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288CCD-AD87-9068-971C-C75A1154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F75D-20B9-4B8B-8A0F-815FE4C30389}" type="datetime1">
              <a:rPr lang="en-US" smtClean="0"/>
              <a:t>12/26/2025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1B7D4F-1F98-F500-4823-4E3D1508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3886CE-9B0B-B1DC-32E8-FA1B822B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0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C47CED-790B-84D4-2FEA-F8B103CF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DE1A-19C8-417E-A525-6AABF6C474FE}" type="datetime1">
              <a:rPr lang="en-US" smtClean="0"/>
              <a:t>12/26/2025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8B6E0E-A473-0745-EC36-0634AE67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C9E85F-4324-75D1-CDF3-04D534D0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1AAB6-4814-4495-1499-B90EEA10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14C59E-6762-5981-BD5F-F2011157D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3D3FF2-E62F-91D7-6124-AFF4C8792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EACE81-6631-83FB-7071-C78DD6C8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BCFDB-D55B-43A4-96B1-1819A1BFD488}" type="datetime1">
              <a:rPr lang="en-US" smtClean="0"/>
              <a:t>12/26/2025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F9EDA0-18AA-DD19-98C4-BDE83DCD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BF3CAB-B5C3-4EFF-07CF-6AA87718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8A623-FEFE-8E49-AB9F-147D7272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AC5AAE-980C-2B56-E920-AA882ACEB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89EEAF-39EF-5488-CA9C-532E2E68B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24F6A6-66EC-7BD4-C16E-FE3E1575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FAD9-7B10-4DDA-B862-4403C3EF85BA}" type="datetime1">
              <a:rPr lang="en-US" smtClean="0"/>
              <a:t>12/26/2025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A4676F-799D-CCE6-E9CE-D312BC38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1858E4-ECDD-5926-BF61-A8709282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02DC5-3885-4A91-BA52-8CD77359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0A5593-856D-8632-22AF-6ABD269E4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44EFDC-45DB-974C-F440-888A7BF3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B9D2-FAD5-4B84-8204-D913C64D43B0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2400D6-7ADC-8551-0B84-A8BA589C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06E74-BFF4-021F-F64D-2401AEA3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5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53D80F-1716-46BC-EF06-4C5132348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AFD786-4D59-CC81-78B2-FA4814427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AD2FFF-374F-335D-E82E-598C4C20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21C3-F5C8-40D1-B84E-588D1A29565B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6EBBF5-30B6-0E2A-985F-70361B08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2E6C06-A6E4-A0B5-8117-01FA707D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5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50728F-27C0-5C6E-5379-20354DCC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E8A31E-F870-2697-FDFA-74D6E6B04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C20903-868C-F68B-55E6-16DF738E5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1B9A6-A462-4F44-8586-F7218A54EFA3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64AA42-10BD-E61D-041E-EDDEB124D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B29B17-0098-6FD0-1091-D537D6472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3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9.gif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9.gif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gif"/><Relationship Id="rId5" Type="http://schemas.openxmlformats.org/officeDocument/2006/relationships/image" Target="../media/image4.svg"/><Relationship Id="rId10" Type="http://schemas.openxmlformats.org/officeDocument/2006/relationships/image" Target="../media/image9.gif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uzayuri/LABIC_curso_introducao_a_manejo_visualizacao_e_analise_de_dados_com_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2">
            <a:extLst>
              <a:ext uri="{FF2B5EF4-FFF2-40B4-BE49-F238E27FC236}">
                <a16:creationId xmlns:a16="http://schemas.microsoft.com/office/drawing/2014/main" id="{7FD73459-F1C2-0C3C-2AE6-3495D0421959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Curso:</a:t>
            </a:r>
            <a:br>
              <a:rPr lang="pt-BR" dirty="0"/>
            </a:br>
            <a:r>
              <a:rPr lang="pt-BR" b="1" dirty="0"/>
              <a:t>Introdução à manejo, visualização e análise de</a:t>
            </a:r>
            <a:r>
              <a:rPr lang="pt-BR" b="1" i="1" dirty="0"/>
              <a:t> </a:t>
            </a:r>
            <a:r>
              <a:rPr lang="pt-BR" b="1" dirty="0"/>
              <a:t>dados com R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A2305B-4E99-C734-6B9E-C22991EF5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0297" y="1214438"/>
            <a:ext cx="6951406" cy="1558259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R Project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DEB418-9C1C-A5C0-F0E5-47CD45E5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8814269-2AF9-CA91-CFA2-7933F74680F4}"/>
              </a:ext>
            </a:extLst>
          </p:cNvPr>
          <p:cNvSpPr txBox="1"/>
          <p:nvPr/>
        </p:nvSpPr>
        <p:spPr>
          <a:xfrm>
            <a:off x="3805083" y="5892581"/>
            <a:ext cx="4581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Yuri Souza</a:t>
            </a:r>
          </a:p>
          <a:p>
            <a:pPr algn="ctr"/>
            <a:r>
              <a:rPr lang="en-US" dirty="0"/>
              <a:t>Janeiro 2026</a:t>
            </a:r>
          </a:p>
        </p:txBody>
      </p:sp>
    </p:spTree>
    <p:extLst>
      <p:ext uri="{BB962C8B-B14F-4D97-AF65-F5344CB8AC3E}">
        <p14:creationId xmlns:p14="http://schemas.microsoft.com/office/powerpoint/2010/main" val="3544321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5063-A950-7303-15D6-D1231792B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O que é?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9C3C4-3897-5748-92A5-2EF462D2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É uma pasta independente, identificada por um arquivo .</a:t>
            </a:r>
            <a:r>
              <a:rPr lang="pt-BR" sz="2000" dirty="0" err="1"/>
              <a:t>Rproj</a:t>
            </a:r>
            <a:endParaRPr lang="pt-BR" sz="2000" dirty="0"/>
          </a:p>
          <a:p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076FF9-47B3-472B-22D1-4900A880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6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DE79-5EBF-0F3A-4477-C485AF386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0E01C-1097-09BD-A6A9-6A1C252D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O que é?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26E685-E817-BD6E-3906-250338ADC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É uma pasta independente, identificada por um arquivo .</a:t>
            </a:r>
            <a:r>
              <a:rPr lang="pt-BR" sz="2000" dirty="0" err="1"/>
              <a:t>Rproj</a:t>
            </a:r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Organiza todos os arquivos (scripts, dados, gráficos) para uma tarefa específica de análise de dados no RStudio. </a:t>
            </a:r>
          </a:p>
          <a:p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ECDBAE-7D04-C41A-7BA1-A74A1620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0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B21D-313A-4D9C-D2C9-02888BE1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1049D-26DC-D2BF-6033-1BF15652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O que é?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B2F63-2789-3ED1-2075-26C2CA692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É uma pasta independente, identificada por um arquivo .</a:t>
            </a:r>
            <a:r>
              <a:rPr lang="pt-BR" sz="2000" dirty="0" err="1"/>
              <a:t>Rproj</a:t>
            </a:r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Organiza todos os arquivos (scripts, dados, gráficos) para uma tarefa específica de análise de dados no RStudio. </a:t>
            </a:r>
          </a:p>
          <a:p>
            <a:endParaRPr lang="pt-BR" sz="2000" dirty="0"/>
          </a:p>
          <a:p>
            <a:r>
              <a:rPr lang="pt-BR" sz="2000" dirty="0"/>
              <a:t>Isso torna os projetos reproduzíveis, portáteis e fáceis de compartilhar, bastando definir a pasta como diretório de trabalho.</a:t>
            </a:r>
          </a:p>
          <a:p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04288C-A4EA-DC06-7BE8-61E80B1A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3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6507-5033-DA4A-C882-9474D02F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5F971-1C8D-4A7B-A6C2-824CBC14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O que é?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E7FE6E-B959-25CA-9A76-ED3A704A3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r>
              <a:rPr lang="pt-BR" sz="2000" dirty="0"/>
              <a:t>É uma pasta independente, identificada por um arquivo .</a:t>
            </a:r>
            <a:r>
              <a:rPr lang="pt-BR" sz="2000" dirty="0" err="1"/>
              <a:t>Rproj</a:t>
            </a:r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Organiza todos os arquivos (scripts, dados, gráficos) para uma tarefa específica de análise de dados no RStudio. </a:t>
            </a:r>
          </a:p>
          <a:p>
            <a:endParaRPr lang="pt-BR" sz="2000" dirty="0"/>
          </a:p>
          <a:p>
            <a:r>
              <a:rPr lang="pt-BR" sz="2000" dirty="0"/>
              <a:t>Isso torna os projetos reproduzíveis, portáteis e fáceis de compartilhar, bastando definir a pasta como diretório de trabalho.</a:t>
            </a:r>
          </a:p>
          <a:p>
            <a:endParaRPr lang="pt-BR" sz="2000" dirty="0"/>
          </a:p>
          <a:p>
            <a:r>
              <a:rPr lang="pt-BR" sz="2000" dirty="0"/>
              <a:t> Auxilia no gerenciamento de fluxos de trabalho complexos, mantendo tudo organizado, permitindo que você retome o trabalho de onde parou e garantindo caminhos de arquivo consistentes para os colaboradores.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E68C8A-CA92-6887-B79C-51878492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17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C7AF-D68D-1165-F1D0-4A75E7CD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1FCF0-0AAF-47E1-CE33-C21692CF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O que é?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A7CDA6-7E85-70A2-1F77-C8F1710F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00389"/>
          </a:xfrm>
        </p:spPr>
        <p:txBody>
          <a:bodyPr>
            <a:normAutofit/>
          </a:bodyPr>
          <a:lstStyle/>
          <a:p>
            <a:r>
              <a:rPr lang="pt-BR" sz="2000" dirty="0"/>
              <a:t>É uma pasta independente, identificada por um arquivo .</a:t>
            </a:r>
            <a:r>
              <a:rPr lang="pt-BR" sz="2000" dirty="0" err="1"/>
              <a:t>Rproj</a:t>
            </a:r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Organiza todos os arquivos (scripts, dados, gráficos) para uma tarefa específica de análise de dados no RStudio. </a:t>
            </a:r>
          </a:p>
          <a:p>
            <a:endParaRPr lang="pt-BR" sz="2000" dirty="0"/>
          </a:p>
          <a:p>
            <a:r>
              <a:rPr lang="pt-BR" sz="2000" dirty="0"/>
              <a:t>Isso torna os projetos reproduzíveis, portáteis e fáceis de compartilhar, bastando definir a pasta como diretório de trabalho.</a:t>
            </a:r>
          </a:p>
          <a:p>
            <a:endParaRPr lang="pt-BR" sz="2000" dirty="0"/>
          </a:p>
          <a:p>
            <a:r>
              <a:rPr lang="pt-BR" sz="2000" dirty="0"/>
              <a:t> Auxilia no gerenciamento de fluxos de trabalho complexos, mantendo tudo organizado, permitindo que você retome o trabalho de onde parou e garantindo caminhos de arquivo consistentes para os colaboradores.</a:t>
            </a:r>
          </a:p>
          <a:p>
            <a:endParaRPr lang="pt-BR" sz="2000" dirty="0"/>
          </a:p>
          <a:p>
            <a:r>
              <a:rPr lang="pt-BR" sz="2000" dirty="0"/>
              <a:t>O Windows usa</a:t>
            </a:r>
            <a:r>
              <a:rPr lang="pt-BR" sz="2000" b="1" dirty="0"/>
              <a:t> ‘\’ </a:t>
            </a:r>
            <a:r>
              <a:rPr lang="pt-BR" sz="2000" dirty="0"/>
              <a:t>o R usa </a:t>
            </a:r>
            <a:r>
              <a:rPr lang="pt-BR" sz="2000" b="1" dirty="0"/>
              <a:t>‘/’ </a:t>
            </a:r>
            <a:r>
              <a:rPr lang="pt-BR" sz="2000" dirty="0"/>
              <a:t>no caminho das pastas/arquivos. Usando RProject não precisas ficar trocando as barras manualmente.</a:t>
            </a:r>
            <a:endParaRPr lang="pt-BR" sz="2000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1C2DEF-B7A1-BCAF-02D2-470FB30F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90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0994-A9A4-E217-5EAD-16039FC6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8BFF6-D12B-927D-6E4F-6741BD9B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Por que usar ele?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1A3CC9-5887-D4E6-8BC0-DD6CC784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</a:t>
            </a:fld>
            <a:endParaRPr lang="en-US"/>
          </a:p>
        </p:txBody>
      </p:sp>
      <p:pic>
        <p:nvPicPr>
          <p:cNvPr id="6" name="Gráfico 5" descr="Homem com preenchimento sólido">
            <a:extLst>
              <a:ext uri="{FF2B5EF4-FFF2-40B4-BE49-F238E27FC236}">
                <a16:creationId xmlns:a16="http://schemas.microsoft.com/office/drawing/2014/main" id="{AF5BD1EB-FEE8-F0FD-A83B-DAD11A355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651919"/>
            <a:ext cx="914400" cy="914400"/>
          </a:xfrm>
          <a:prstGeom prst="rect">
            <a:avLst/>
          </a:prstGeom>
        </p:spPr>
      </p:pic>
      <p:pic>
        <p:nvPicPr>
          <p:cNvPr id="8" name="Gráfico 7" descr="Mulher com preenchimento sólido">
            <a:extLst>
              <a:ext uri="{FF2B5EF4-FFF2-40B4-BE49-F238E27FC236}">
                <a16:creationId xmlns:a16="http://schemas.microsoft.com/office/drawing/2014/main" id="{49F514C8-AE4D-AA73-7C0A-C77CD648D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910" y="2651919"/>
            <a:ext cx="914400" cy="914400"/>
          </a:xfrm>
          <a:prstGeom prst="rect">
            <a:avLst/>
          </a:prstGeom>
        </p:spPr>
      </p:pic>
      <p:sp>
        <p:nvSpPr>
          <p:cNvPr id="11" name="Seta: Curva para Baixo 10">
            <a:extLst>
              <a:ext uri="{FF2B5EF4-FFF2-40B4-BE49-F238E27FC236}">
                <a16:creationId xmlns:a16="http://schemas.microsoft.com/office/drawing/2014/main" id="{2FF95ECC-C954-E3E7-7384-04AF6B076FCE}"/>
              </a:ext>
            </a:extLst>
          </p:cNvPr>
          <p:cNvSpPr/>
          <p:nvPr/>
        </p:nvSpPr>
        <p:spPr>
          <a:xfrm>
            <a:off x="838200" y="2141089"/>
            <a:ext cx="1216152" cy="442912"/>
          </a:xfrm>
          <a:prstGeom prst="curved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4" name="Gráfico 23" descr="Computador com preenchimento sólido">
            <a:extLst>
              <a:ext uri="{FF2B5EF4-FFF2-40B4-BE49-F238E27FC236}">
                <a16:creationId xmlns:a16="http://schemas.microsoft.com/office/drawing/2014/main" id="{64CF3B9E-2290-CEEA-2C77-A41B1A865F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80" y="2986796"/>
            <a:ext cx="638353" cy="638353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EEEE26AB-E50D-C4C4-6691-C947D3D1CB56}"/>
              </a:ext>
            </a:extLst>
          </p:cNvPr>
          <p:cNvSpPr txBox="1"/>
          <p:nvPr/>
        </p:nvSpPr>
        <p:spPr>
          <a:xfrm>
            <a:off x="216383" y="1623894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Sem RProject</a:t>
            </a:r>
            <a:endParaRPr lang="en-US" b="1" dirty="0"/>
          </a:p>
        </p:txBody>
      </p:sp>
      <p:pic>
        <p:nvPicPr>
          <p:cNvPr id="1031" name="Gráfico 1030" descr="Pen Drive com preenchimento sólido">
            <a:extLst>
              <a:ext uri="{FF2B5EF4-FFF2-40B4-BE49-F238E27FC236}">
                <a16:creationId xmlns:a16="http://schemas.microsoft.com/office/drawing/2014/main" id="{1678C21B-766F-B457-40B9-08C87F800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 flipH="1" flipV="1">
            <a:off x="1188596" y="1931847"/>
            <a:ext cx="442912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16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E4C0-571D-B9FA-849D-2514B9A1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FCDC7-938B-0EFE-8BAB-C4CA0A22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Por que usar ele?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8392F0-9BFE-78A4-E96D-BE5F12F2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8</a:t>
            </a:fld>
            <a:endParaRPr lang="en-US"/>
          </a:p>
        </p:txBody>
      </p:sp>
      <p:pic>
        <p:nvPicPr>
          <p:cNvPr id="6" name="Gráfico 5" descr="Homem com preenchimento sólido">
            <a:extLst>
              <a:ext uri="{FF2B5EF4-FFF2-40B4-BE49-F238E27FC236}">
                <a16:creationId xmlns:a16="http://schemas.microsoft.com/office/drawing/2014/main" id="{430A7E5F-B887-F44A-0CFB-EEB743726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651919"/>
            <a:ext cx="914400" cy="914400"/>
          </a:xfrm>
          <a:prstGeom prst="rect">
            <a:avLst/>
          </a:prstGeom>
        </p:spPr>
      </p:pic>
      <p:pic>
        <p:nvPicPr>
          <p:cNvPr id="8" name="Gráfico 7" descr="Mulher com preenchimento sólido">
            <a:extLst>
              <a:ext uri="{FF2B5EF4-FFF2-40B4-BE49-F238E27FC236}">
                <a16:creationId xmlns:a16="http://schemas.microsoft.com/office/drawing/2014/main" id="{C9CB06E2-7A22-AB5E-223F-71428403C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910" y="2651919"/>
            <a:ext cx="914400" cy="914400"/>
          </a:xfrm>
          <a:prstGeom prst="rect">
            <a:avLst/>
          </a:prstGeom>
        </p:spPr>
      </p:pic>
      <p:sp>
        <p:nvSpPr>
          <p:cNvPr id="11" name="Seta: Curva para Baixo 10">
            <a:extLst>
              <a:ext uri="{FF2B5EF4-FFF2-40B4-BE49-F238E27FC236}">
                <a16:creationId xmlns:a16="http://schemas.microsoft.com/office/drawing/2014/main" id="{4827F51C-A519-ACC0-1DEA-305E35634814}"/>
              </a:ext>
            </a:extLst>
          </p:cNvPr>
          <p:cNvSpPr/>
          <p:nvPr/>
        </p:nvSpPr>
        <p:spPr>
          <a:xfrm>
            <a:off x="838200" y="2141089"/>
            <a:ext cx="1216152" cy="442912"/>
          </a:xfrm>
          <a:prstGeom prst="curved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1880AA25-CA1B-FFA9-7977-494A977630BE}"/>
              </a:ext>
            </a:extLst>
          </p:cNvPr>
          <p:cNvGrpSpPr/>
          <p:nvPr/>
        </p:nvGrpSpPr>
        <p:grpSpPr>
          <a:xfrm>
            <a:off x="3798241" y="2651919"/>
            <a:ext cx="2064544" cy="914400"/>
            <a:chOff x="3602160" y="2651919"/>
            <a:chExt cx="2064544" cy="914400"/>
          </a:xfrm>
        </p:grpSpPr>
        <p:pic>
          <p:nvPicPr>
            <p:cNvPr id="10" name="Gráfico 9" descr="Pen Drive com preenchimento sólido">
              <a:extLst>
                <a:ext uri="{FF2B5EF4-FFF2-40B4-BE49-F238E27FC236}">
                  <a16:creationId xmlns:a16="http://schemas.microsoft.com/office/drawing/2014/main" id="{F5C34A4C-1A2F-0BDF-79BD-523ABC9F5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4295104" y="2887663"/>
              <a:ext cx="442912" cy="442912"/>
            </a:xfrm>
            <a:prstGeom prst="rect">
              <a:avLst/>
            </a:prstGeom>
          </p:spPr>
        </p:pic>
        <p:pic>
          <p:nvPicPr>
            <p:cNvPr id="12" name="Gráfico 11" descr="Mulher com preenchimento sólido">
              <a:extLst>
                <a:ext uri="{FF2B5EF4-FFF2-40B4-BE49-F238E27FC236}">
                  <a16:creationId xmlns:a16="http://schemas.microsoft.com/office/drawing/2014/main" id="{AC70FD83-1F8F-D970-2C34-6602E6DD1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02160" y="2651919"/>
              <a:ext cx="914400" cy="914400"/>
            </a:xfrm>
            <a:prstGeom prst="rect">
              <a:avLst/>
            </a:prstGeom>
          </p:spPr>
        </p:pic>
        <p:pic>
          <p:nvPicPr>
            <p:cNvPr id="14" name="Gráfico 13" descr="Computador com preenchimento sólido">
              <a:extLst>
                <a:ext uri="{FF2B5EF4-FFF2-40B4-BE49-F238E27FC236}">
                  <a16:creationId xmlns:a16="http://schemas.microsoft.com/office/drawing/2014/main" id="{EA135341-0439-19DD-7E98-2A3C240DC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52304" y="2651919"/>
              <a:ext cx="914400" cy="914400"/>
            </a:xfrm>
            <a:prstGeom prst="rect">
              <a:avLst/>
            </a:prstGeom>
          </p:spPr>
        </p:pic>
      </p:grpSp>
      <p:pic>
        <p:nvPicPr>
          <p:cNvPr id="24" name="Gráfico 23" descr="Computador com preenchimento sólido">
            <a:extLst>
              <a:ext uri="{FF2B5EF4-FFF2-40B4-BE49-F238E27FC236}">
                <a16:creationId xmlns:a16="http://schemas.microsoft.com/office/drawing/2014/main" id="{1D037703-FE4A-67EA-512E-BA7EBA6024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80" y="2986796"/>
            <a:ext cx="638353" cy="638353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367B26CB-495A-07A5-D8BE-DC7FCB7DA1B0}"/>
              </a:ext>
            </a:extLst>
          </p:cNvPr>
          <p:cNvSpPr txBox="1"/>
          <p:nvPr/>
        </p:nvSpPr>
        <p:spPr>
          <a:xfrm>
            <a:off x="216383" y="1623894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Sem RProject</a:t>
            </a:r>
            <a:endParaRPr lang="en-US" b="1" dirty="0"/>
          </a:p>
        </p:txBody>
      </p:sp>
      <p:pic>
        <p:nvPicPr>
          <p:cNvPr id="1031" name="Gráfico 1030" descr="Pen Drive com preenchimento sólido">
            <a:extLst>
              <a:ext uri="{FF2B5EF4-FFF2-40B4-BE49-F238E27FC236}">
                <a16:creationId xmlns:a16="http://schemas.microsoft.com/office/drawing/2014/main" id="{6E9C5172-CF56-87BA-5A72-CC4FC34EAE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 flipH="1" flipV="1">
            <a:off x="1188596" y="1931847"/>
            <a:ext cx="442912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19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F965-A866-1EB6-6E11-1B3428B8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EDAD9-C754-0992-10D7-43EBE32B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Por que usar ele?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21B5D5-9C37-6F1D-A8DB-2DFF9570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9</a:t>
            </a:fld>
            <a:endParaRPr lang="en-US"/>
          </a:p>
        </p:txBody>
      </p:sp>
      <p:pic>
        <p:nvPicPr>
          <p:cNvPr id="6" name="Gráfico 5" descr="Homem com preenchimento sólido">
            <a:extLst>
              <a:ext uri="{FF2B5EF4-FFF2-40B4-BE49-F238E27FC236}">
                <a16:creationId xmlns:a16="http://schemas.microsoft.com/office/drawing/2014/main" id="{3BCB2BEA-F06A-BB32-5DBA-38218B6C6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651919"/>
            <a:ext cx="914400" cy="914400"/>
          </a:xfrm>
          <a:prstGeom prst="rect">
            <a:avLst/>
          </a:prstGeom>
        </p:spPr>
      </p:pic>
      <p:pic>
        <p:nvPicPr>
          <p:cNvPr id="8" name="Gráfico 7" descr="Mulher com preenchimento sólido">
            <a:extLst>
              <a:ext uri="{FF2B5EF4-FFF2-40B4-BE49-F238E27FC236}">
                <a16:creationId xmlns:a16="http://schemas.microsoft.com/office/drawing/2014/main" id="{8EAB98EF-A004-A300-B825-73FC3E928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910" y="2651919"/>
            <a:ext cx="914400" cy="914400"/>
          </a:xfrm>
          <a:prstGeom prst="rect">
            <a:avLst/>
          </a:prstGeom>
        </p:spPr>
      </p:pic>
      <p:sp>
        <p:nvSpPr>
          <p:cNvPr id="11" name="Seta: Curva para Baixo 10">
            <a:extLst>
              <a:ext uri="{FF2B5EF4-FFF2-40B4-BE49-F238E27FC236}">
                <a16:creationId xmlns:a16="http://schemas.microsoft.com/office/drawing/2014/main" id="{7DC9E1AF-8579-E539-1FE0-666F1F38E5C1}"/>
              </a:ext>
            </a:extLst>
          </p:cNvPr>
          <p:cNvSpPr/>
          <p:nvPr/>
        </p:nvSpPr>
        <p:spPr>
          <a:xfrm>
            <a:off x="838200" y="2141089"/>
            <a:ext cx="1216152" cy="442912"/>
          </a:xfrm>
          <a:prstGeom prst="curved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ACAA712-C286-0604-E5CD-BC7D731DF950}"/>
              </a:ext>
            </a:extLst>
          </p:cNvPr>
          <p:cNvGrpSpPr/>
          <p:nvPr/>
        </p:nvGrpSpPr>
        <p:grpSpPr>
          <a:xfrm>
            <a:off x="3798241" y="2651919"/>
            <a:ext cx="2064544" cy="914400"/>
            <a:chOff x="3602160" y="2651919"/>
            <a:chExt cx="2064544" cy="914400"/>
          </a:xfrm>
        </p:grpSpPr>
        <p:pic>
          <p:nvPicPr>
            <p:cNvPr id="10" name="Gráfico 9" descr="Pen Drive com preenchimento sólido">
              <a:extLst>
                <a:ext uri="{FF2B5EF4-FFF2-40B4-BE49-F238E27FC236}">
                  <a16:creationId xmlns:a16="http://schemas.microsoft.com/office/drawing/2014/main" id="{6C1FAAD5-F5EC-6807-C26F-FCEC843D4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4295104" y="2887663"/>
              <a:ext cx="442912" cy="442912"/>
            </a:xfrm>
            <a:prstGeom prst="rect">
              <a:avLst/>
            </a:prstGeom>
          </p:spPr>
        </p:pic>
        <p:pic>
          <p:nvPicPr>
            <p:cNvPr id="12" name="Gráfico 11" descr="Mulher com preenchimento sólido">
              <a:extLst>
                <a:ext uri="{FF2B5EF4-FFF2-40B4-BE49-F238E27FC236}">
                  <a16:creationId xmlns:a16="http://schemas.microsoft.com/office/drawing/2014/main" id="{B873B170-FDCE-CF2D-71D5-D2854572F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02160" y="2651919"/>
              <a:ext cx="914400" cy="914400"/>
            </a:xfrm>
            <a:prstGeom prst="rect">
              <a:avLst/>
            </a:prstGeom>
          </p:spPr>
        </p:pic>
        <p:pic>
          <p:nvPicPr>
            <p:cNvPr id="14" name="Gráfico 13" descr="Computador com preenchimento sólido">
              <a:extLst>
                <a:ext uri="{FF2B5EF4-FFF2-40B4-BE49-F238E27FC236}">
                  <a16:creationId xmlns:a16="http://schemas.microsoft.com/office/drawing/2014/main" id="{60504947-33F6-3E1F-F004-2E77045AA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52304" y="2651919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D011E7A-0452-C0FA-E1D6-D934204A6914}"/>
              </a:ext>
            </a:extLst>
          </p:cNvPr>
          <p:cNvGrpSpPr/>
          <p:nvPr/>
        </p:nvGrpSpPr>
        <p:grpSpPr>
          <a:xfrm>
            <a:off x="7241529" y="2651919"/>
            <a:ext cx="2064544" cy="914400"/>
            <a:chOff x="6501790" y="2651919"/>
            <a:chExt cx="2064544" cy="914400"/>
          </a:xfrm>
        </p:grpSpPr>
        <p:pic>
          <p:nvPicPr>
            <p:cNvPr id="1026" name="Picture 2" descr="Computer Error GIFs | Tenor">
              <a:extLst>
                <a:ext uri="{FF2B5EF4-FFF2-40B4-BE49-F238E27FC236}">
                  <a16:creationId xmlns:a16="http://schemas.microsoft.com/office/drawing/2014/main" id="{9D295008-46A3-A324-2ABE-538C74396F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1583" y="2928202"/>
              <a:ext cx="271368" cy="2528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Gráfico 14" descr="Pen Drive com preenchimento sólido">
              <a:extLst>
                <a:ext uri="{FF2B5EF4-FFF2-40B4-BE49-F238E27FC236}">
                  <a16:creationId xmlns:a16="http://schemas.microsoft.com/office/drawing/2014/main" id="{574007E5-5789-E2B0-B0BA-C36B16479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7194734" y="2887663"/>
              <a:ext cx="442912" cy="442912"/>
            </a:xfrm>
            <a:prstGeom prst="rect">
              <a:avLst/>
            </a:prstGeom>
          </p:spPr>
        </p:pic>
        <p:pic>
          <p:nvPicPr>
            <p:cNvPr id="16" name="Gráfico 15" descr="Mulher com preenchimento sólido">
              <a:extLst>
                <a:ext uri="{FF2B5EF4-FFF2-40B4-BE49-F238E27FC236}">
                  <a16:creationId xmlns:a16="http://schemas.microsoft.com/office/drawing/2014/main" id="{74992C4A-9C24-597E-4CE8-2C4A85A4D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790" y="2651919"/>
              <a:ext cx="914400" cy="914400"/>
            </a:xfrm>
            <a:prstGeom prst="rect">
              <a:avLst/>
            </a:prstGeom>
          </p:spPr>
        </p:pic>
        <p:pic>
          <p:nvPicPr>
            <p:cNvPr id="17" name="Gráfico 16" descr="Computador com preenchimento sólido">
              <a:extLst>
                <a:ext uri="{FF2B5EF4-FFF2-40B4-BE49-F238E27FC236}">
                  <a16:creationId xmlns:a16="http://schemas.microsoft.com/office/drawing/2014/main" id="{7524D90F-8F6A-0B71-B04E-C70D3C19F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1934" y="2651919"/>
              <a:ext cx="914400" cy="914400"/>
            </a:xfrm>
            <a:prstGeom prst="rect">
              <a:avLst/>
            </a:prstGeom>
          </p:spPr>
        </p:pic>
      </p:grpSp>
      <p:pic>
        <p:nvPicPr>
          <p:cNvPr id="24" name="Gráfico 23" descr="Computador com preenchimento sólido">
            <a:extLst>
              <a:ext uri="{FF2B5EF4-FFF2-40B4-BE49-F238E27FC236}">
                <a16:creationId xmlns:a16="http://schemas.microsoft.com/office/drawing/2014/main" id="{084A4F4F-9024-5B55-6243-B6EEB664DF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80" y="2986796"/>
            <a:ext cx="638353" cy="638353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602D64BB-CB8E-84E9-4D88-0BE59E55B0E0}"/>
              </a:ext>
            </a:extLst>
          </p:cNvPr>
          <p:cNvSpPr txBox="1"/>
          <p:nvPr/>
        </p:nvSpPr>
        <p:spPr>
          <a:xfrm>
            <a:off x="216383" y="1623894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Sem RProject</a:t>
            </a:r>
            <a:endParaRPr lang="en-US" b="1" dirty="0"/>
          </a:p>
        </p:txBody>
      </p:sp>
      <p:pic>
        <p:nvPicPr>
          <p:cNvPr id="1031" name="Gráfico 1030" descr="Pen Drive com preenchimento sólido">
            <a:extLst>
              <a:ext uri="{FF2B5EF4-FFF2-40B4-BE49-F238E27FC236}">
                <a16:creationId xmlns:a16="http://schemas.microsoft.com/office/drawing/2014/main" id="{0EB60604-4AA4-DED6-F5A7-4BE3045FAE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 flipH="1" flipV="1">
            <a:off x="1188596" y="1931847"/>
            <a:ext cx="442912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3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1D78-F0C2-5257-EA0A-63FC8693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ector: Curvo 25">
            <a:extLst>
              <a:ext uri="{FF2B5EF4-FFF2-40B4-BE49-F238E27FC236}">
                <a16:creationId xmlns:a16="http://schemas.microsoft.com/office/drawing/2014/main" id="{6BD424FE-FC8A-AC1F-0701-B2078D4669E9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73856" y="1926432"/>
            <a:ext cx="6783166" cy="1060364"/>
          </a:xfrm>
          <a:prstGeom prst="curved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82C0C59-5656-BB86-4C6D-1A74E348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Por que usar ele?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D403A4-C997-39C6-DD8E-A036893C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10</a:t>
            </a:fld>
            <a:endParaRPr lang="en-US"/>
          </a:p>
        </p:txBody>
      </p:sp>
      <p:pic>
        <p:nvPicPr>
          <p:cNvPr id="6" name="Gráfico 5" descr="Homem com preenchimento sólido">
            <a:extLst>
              <a:ext uri="{FF2B5EF4-FFF2-40B4-BE49-F238E27FC236}">
                <a16:creationId xmlns:a16="http://schemas.microsoft.com/office/drawing/2014/main" id="{BE6EB4B6-43E3-40AE-0DD9-761C79C7B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651919"/>
            <a:ext cx="914400" cy="914400"/>
          </a:xfrm>
          <a:prstGeom prst="rect">
            <a:avLst/>
          </a:prstGeom>
        </p:spPr>
      </p:pic>
      <p:pic>
        <p:nvPicPr>
          <p:cNvPr id="8" name="Gráfico 7" descr="Mulher com preenchimento sólido">
            <a:extLst>
              <a:ext uri="{FF2B5EF4-FFF2-40B4-BE49-F238E27FC236}">
                <a16:creationId xmlns:a16="http://schemas.microsoft.com/office/drawing/2014/main" id="{48CBE99C-B532-1674-A11A-36FD9583F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910" y="2651919"/>
            <a:ext cx="914400" cy="914400"/>
          </a:xfrm>
          <a:prstGeom prst="rect">
            <a:avLst/>
          </a:prstGeom>
        </p:spPr>
      </p:pic>
      <p:sp>
        <p:nvSpPr>
          <p:cNvPr id="11" name="Seta: Curva para Baixo 10">
            <a:extLst>
              <a:ext uri="{FF2B5EF4-FFF2-40B4-BE49-F238E27FC236}">
                <a16:creationId xmlns:a16="http://schemas.microsoft.com/office/drawing/2014/main" id="{641F0034-1D40-31E9-807E-0E13948DE8D2}"/>
              </a:ext>
            </a:extLst>
          </p:cNvPr>
          <p:cNvSpPr/>
          <p:nvPr/>
        </p:nvSpPr>
        <p:spPr>
          <a:xfrm>
            <a:off x="838200" y="2141089"/>
            <a:ext cx="1216152" cy="442912"/>
          </a:xfrm>
          <a:prstGeom prst="curved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FC863D7F-37C1-404F-A78B-7BF0553BA3D6}"/>
              </a:ext>
            </a:extLst>
          </p:cNvPr>
          <p:cNvGrpSpPr/>
          <p:nvPr/>
        </p:nvGrpSpPr>
        <p:grpSpPr>
          <a:xfrm>
            <a:off x="3798241" y="2651919"/>
            <a:ext cx="2064544" cy="914400"/>
            <a:chOff x="3602160" y="2651919"/>
            <a:chExt cx="2064544" cy="914400"/>
          </a:xfrm>
        </p:grpSpPr>
        <p:pic>
          <p:nvPicPr>
            <p:cNvPr id="10" name="Gráfico 9" descr="Pen Drive com preenchimento sólido">
              <a:extLst>
                <a:ext uri="{FF2B5EF4-FFF2-40B4-BE49-F238E27FC236}">
                  <a16:creationId xmlns:a16="http://schemas.microsoft.com/office/drawing/2014/main" id="{39705B4A-E424-00FA-9E22-D50D77870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4295104" y="2887663"/>
              <a:ext cx="442912" cy="442912"/>
            </a:xfrm>
            <a:prstGeom prst="rect">
              <a:avLst/>
            </a:prstGeom>
          </p:spPr>
        </p:pic>
        <p:pic>
          <p:nvPicPr>
            <p:cNvPr id="12" name="Gráfico 11" descr="Mulher com preenchimento sólido">
              <a:extLst>
                <a:ext uri="{FF2B5EF4-FFF2-40B4-BE49-F238E27FC236}">
                  <a16:creationId xmlns:a16="http://schemas.microsoft.com/office/drawing/2014/main" id="{801D72D6-A2B2-6EF4-1F58-C70E370AC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02160" y="2651919"/>
              <a:ext cx="914400" cy="914400"/>
            </a:xfrm>
            <a:prstGeom prst="rect">
              <a:avLst/>
            </a:prstGeom>
          </p:spPr>
        </p:pic>
        <p:pic>
          <p:nvPicPr>
            <p:cNvPr id="14" name="Gráfico 13" descr="Computador com preenchimento sólido">
              <a:extLst>
                <a:ext uri="{FF2B5EF4-FFF2-40B4-BE49-F238E27FC236}">
                  <a16:creationId xmlns:a16="http://schemas.microsoft.com/office/drawing/2014/main" id="{CC4A3E14-0F8B-2905-442F-492EDD0C9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52304" y="2651919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43364D6-CC7B-A70E-D3C6-41F52E9F45EB}"/>
              </a:ext>
            </a:extLst>
          </p:cNvPr>
          <p:cNvGrpSpPr/>
          <p:nvPr/>
        </p:nvGrpSpPr>
        <p:grpSpPr>
          <a:xfrm>
            <a:off x="7241529" y="2651919"/>
            <a:ext cx="2064544" cy="914400"/>
            <a:chOff x="6501790" y="2651919"/>
            <a:chExt cx="2064544" cy="914400"/>
          </a:xfrm>
        </p:grpSpPr>
        <p:pic>
          <p:nvPicPr>
            <p:cNvPr id="1026" name="Picture 2" descr="Computer Error GIFs | Tenor">
              <a:extLst>
                <a:ext uri="{FF2B5EF4-FFF2-40B4-BE49-F238E27FC236}">
                  <a16:creationId xmlns:a16="http://schemas.microsoft.com/office/drawing/2014/main" id="{E38C6B3E-E791-4570-1D83-70A2A29C4A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1583" y="2928202"/>
              <a:ext cx="271368" cy="2528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Gráfico 14" descr="Pen Drive com preenchimento sólido">
              <a:extLst>
                <a:ext uri="{FF2B5EF4-FFF2-40B4-BE49-F238E27FC236}">
                  <a16:creationId xmlns:a16="http://schemas.microsoft.com/office/drawing/2014/main" id="{04D4201B-D71C-FB6C-ABA5-D1768A01A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7194734" y="2887663"/>
              <a:ext cx="442912" cy="442912"/>
            </a:xfrm>
            <a:prstGeom prst="rect">
              <a:avLst/>
            </a:prstGeom>
          </p:spPr>
        </p:pic>
        <p:pic>
          <p:nvPicPr>
            <p:cNvPr id="16" name="Gráfico 15" descr="Mulher com preenchimento sólido">
              <a:extLst>
                <a:ext uri="{FF2B5EF4-FFF2-40B4-BE49-F238E27FC236}">
                  <a16:creationId xmlns:a16="http://schemas.microsoft.com/office/drawing/2014/main" id="{B706B092-94CA-EFBB-CCA1-384760B34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790" y="2651919"/>
              <a:ext cx="914400" cy="914400"/>
            </a:xfrm>
            <a:prstGeom prst="rect">
              <a:avLst/>
            </a:prstGeom>
          </p:spPr>
        </p:pic>
        <p:pic>
          <p:nvPicPr>
            <p:cNvPr id="17" name="Gráfico 16" descr="Computador com preenchimento sólido">
              <a:extLst>
                <a:ext uri="{FF2B5EF4-FFF2-40B4-BE49-F238E27FC236}">
                  <a16:creationId xmlns:a16="http://schemas.microsoft.com/office/drawing/2014/main" id="{817B20A5-076A-4D67-2B14-C04B3990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1934" y="2651919"/>
              <a:ext cx="914400" cy="914400"/>
            </a:xfrm>
            <a:prstGeom prst="rect">
              <a:avLst/>
            </a:prstGeom>
          </p:spPr>
        </p:pic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EB63B83-FE53-1A32-AC6A-05D4FE368375}"/>
              </a:ext>
            </a:extLst>
          </p:cNvPr>
          <p:cNvSpPr txBox="1"/>
          <p:nvPr/>
        </p:nvSpPr>
        <p:spPr>
          <a:xfrm>
            <a:off x="7157022" y="1741766"/>
            <a:ext cx="468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C:/User/Fulano/R/DeD/tabela_versao1.csv</a:t>
            </a:r>
            <a:endParaRPr lang="en-US" b="1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05F6A0B-9740-DD18-DDDE-2AB647954FF7}"/>
              </a:ext>
            </a:extLst>
          </p:cNvPr>
          <p:cNvSpPr txBox="1"/>
          <p:nvPr/>
        </p:nvSpPr>
        <p:spPr>
          <a:xfrm>
            <a:off x="7157022" y="2104707"/>
            <a:ext cx="495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C:/User/Ciclano/R/Labic/tabela_versao1.csv</a:t>
            </a:r>
            <a:endParaRPr lang="en-US" b="1" dirty="0"/>
          </a:p>
        </p:txBody>
      </p:sp>
      <p:pic>
        <p:nvPicPr>
          <p:cNvPr id="24" name="Gráfico 23" descr="Computador com preenchimento sólido">
            <a:extLst>
              <a:ext uri="{FF2B5EF4-FFF2-40B4-BE49-F238E27FC236}">
                <a16:creationId xmlns:a16="http://schemas.microsoft.com/office/drawing/2014/main" id="{CC26713B-9A0E-5894-BDAF-B8B5FC3279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80" y="2986796"/>
            <a:ext cx="638353" cy="638353"/>
          </a:xfrm>
          <a:prstGeom prst="rect">
            <a:avLst/>
          </a:prstGeom>
        </p:spPr>
      </p:pic>
      <p:cxnSp>
        <p:nvCxnSpPr>
          <p:cNvPr id="28" name="Conector: Curvo 27">
            <a:extLst>
              <a:ext uri="{FF2B5EF4-FFF2-40B4-BE49-F238E27FC236}">
                <a16:creationId xmlns:a16="http://schemas.microsoft.com/office/drawing/2014/main" id="{85335526-B3F6-A599-BA4C-C155BB3F7813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5285423" y="2289373"/>
            <a:ext cx="1871599" cy="447354"/>
          </a:xfrm>
          <a:prstGeom prst="curved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Sinal de Multiplicação 29">
            <a:extLst>
              <a:ext uri="{FF2B5EF4-FFF2-40B4-BE49-F238E27FC236}">
                <a16:creationId xmlns:a16="http://schemas.microsoft.com/office/drawing/2014/main" id="{ABC20DDC-EB7D-0F3D-4B27-93D9BD8776AF}"/>
              </a:ext>
            </a:extLst>
          </p:cNvPr>
          <p:cNvSpPr/>
          <p:nvPr/>
        </p:nvSpPr>
        <p:spPr>
          <a:xfrm>
            <a:off x="11707525" y="1937507"/>
            <a:ext cx="268092" cy="268092"/>
          </a:xfrm>
          <a:prstGeom prst="mathMultiply">
            <a:avLst>
              <a:gd name="adj1" fmla="val 1239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0829369-3D82-5FA8-4394-E660B42CCBED}"/>
              </a:ext>
            </a:extLst>
          </p:cNvPr>
          <p:cNvSpPr txBox="1"/>
          <p:nvPr/>
        </p:nvSpPr>
        <p:spPr>
          <a:xfrm>
            <a:off x="216383" y="1623894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Sem RProject</a:t>
            </a:r>
            <a:endParaRPr lang="en-US" b="1" dirty="0"/>
          </a:p>
        </p:txBody>
      </p:sp>
      <p:pic>
        <p:nvPicPr>
          <p:cNvPr id="1031" name="Gráfico 1030" descr="Pen Drive com preenchimento sólido">
            <a:extLst>
              <a:ext uri="{FF2B5EF4-FFF2-40B4-BE49-F238E27FC236}">
                <a16:creationId xmlns:a16="http://schemas.microsoft.com/office/drawing/2014/main" id="{2ED8C843-0BA1-B8A7-2938-BC46B61A3A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 flipH="1" flipV="1">
            <a:off x="1188596" y="1931847"/>
            <a:ext cx="442912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39879-6457-6E8E-FAC7-DBE8ACEE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0" name="Conector: Curvo 1029">
            <a:extLst>
              <a:ext uri="{FF2B5EF4-FFF2-40B4-BE49-F238E27FC236}">
                <a16:creationId xmlns:a16="http://schemas.microsoft.com/office/drawing/2014/main" id="{F9221129-662B-F709-814C-EB8E28E1B04F}"/>
              </a:ext>
            </a:extLst>
          </p:cNvPr>
          <p:cNvCxnSpPr>
            <a:cxnSpLocks/>
          </p:cNvCxnSpPr>
          <p:nvPr/>
        </p:nvCxnSpPr>
        <p:spPr>
          <a:xfrm flipV="1">
            <a:off x="359569" y="4725753"/>
            <a:ext cx="6783166" cy="1060364"/>
          </a:xfrm>
          <a:prstGeom prst="curved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: Curvo 25">
            <a:extLst>
              <a:ext uri="{FF2B5EF4-FFF2-40B4-BE49-F238E27FC236}">
                <a16:creationId xmlns:a16="http://schemas.microsoft.com/office/drawing/2014/main" id="{9E7C582F-8EC8-28FF-0E35-2472C0185816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73856" y="1926432"/>
            <a:ext cx="6783166" cy="1060364"/>
          </a:xfrm>
          <a:prstGeom prst="curved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22E37A4A-5E46-B7D1-1E25-C130B633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Por que usar ele?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BA877-2A46-CC04-BD9B-DD8F8FA9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11</a:t>
            </a:fld>
            <a:endParaRPr lang="en-US"/>
          </a:p>
        </p:txBody>
      </p:sp>
      <p:pic>
        <p:nvPicPr>
          <p:cNvPr id="6" name="Gráfico 5" descr="Homem com preenchimento sólido">
            <a:extLst>
              <a:ext uri="{FF2B5EF4-FFF2-40B4-BE49-F238E27FC236}">
                <a16:creationId xmlns:a16="http://schemas.microsoft.com/office/drawing/2014/main" id="{BB8E2D64-767F-4F03-5060-3931FA5B7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651919"/>
            <a:ext cx="914400" cy="914400"/>
          </a:xfrm>
          <a:prstGeom prst="rect">
            <a:avLst/>
          </a:prstGeom>
        </p:spPr>
      </p:pic>
      <p:pic>
        <p:nvPicPr>
          <p:cNvPr id="8" name="Gráfico 7" descr="Mulher com preenchimento sólido">
            <a:extLst>
              <a:ext uri="{FF2B5EF4-FFF2-40B4-BE49-F238E27FC236}">
                <a16:creationId xmlns:a16="http://schemas.microsoft.com/office/drawing/2014/main" id="{A71154EB-CB67-9B0F-9562-587F27757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910" y="2651919"/>
            <a:ext cx="914400" cy="914400"/>
          </a:xfrm>
          <a:prstGeom prst="rect">
            <a:avLst/>
          </a:prstGeom>
        </p:spPr>
      </p:pic>
      <p:sp>
        <p:nvSpPr>
          <p:cNvPr id="11" name="Seta: Curva para Baixo 10">
            <a:extLst>
              <a:ext uri="{FF2B5EF4-FFF2-40B4-BE49-F238E27FC236}">
                <a16:creationId xmlns:a16="http://schemas.microsoft.com/office/drawing/2014/main" id="{0DAF0367-5821-2F4B-7BFD-44F437789D82}"/>
              </a:ext>
            </a:extLst>
          </p:cNvPr>
          <p:cNvSpPr/>
          <p:nvPr/>
        </p:nvSpPr>
        <p:spPr>
          <a:xfrm>
            <a:off x="838200" y="2141089"/>
            <a:ext cx="1216152" cy="442912"/>
          </a:xfrm>
          <a:prstGeom prst="curved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484A4C2-BF84-C18B-CF29-32DF4A3ABF12}"/>
              </a:ext>
            </a:extLst>
          </p:cNvPr>
          <p:cNvGrpSpPr/>
          <p:nvPr/>
        </p:nvGrpSpPr>
        <p:grpSpPr>
          <a:xfrm>
            <a:off x="3798241" y="2651919"/>
            <a:ext cx="2064544" cy="914400"/>
            <a:chOff x="3602160" y="2651919"/>
            <a:chExt cx="2064544" cy="914400"/>
          </a:xfrm>
        </p:grpSpPr>
        <p:pic>
          <p:nvPicPr>
            <p:cNvPr id="10" name="Gráfico 9" descr="Pen Drive com preenchimento sólido">
              <a:extLst>
                <a:ext uri="{FF2B5EF4-FFF2-40B4-BE49-F238E27FC236}">
                  <a16:creationId xmlns:a16="http://schemas.microsoft.com/office/drawing/2014/main" id="{FB3BAADF-5546-0109-3A64-87069A6E9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4295104" y="2887663"/>
              <a:ext cx="442912" cy="442912"/>
            </a:xfrm>
            <a:prstGeom prst="rect">
              <a:avLst/>
            </a:prstGeom>
          </p:spPr>
        </p:pic>
        <p:pic>
          <p:nvPicPr>
            <p:cNvPr id="12" name="Gráfico 11" descr="Mulher com preenchimento sólido">
              <a:extLst>
                <a:ext uri="{FF2B5EF4-FFF2-40B4-BE49-F238E27FC236}">
                  <a16:creationId xmlns:a16="http://schemas.microsoft.com/office/drawing/2014/main" id="{5785FE12-3AE6-A9B8-1327-8C42477BB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02160" y="2651919"/>
              <a:ext cx="914400" cy="914400"/>
            </a:xfrm>
            <a:prstGeom prst="rect">
              <a:avLst/>
            </a:prstGeom>
          </p:spPr>
        </p:pic>
        <p:pic>
          <p:nvPicPr>
            <p:cNvPr id="14" name="Gráfico 13" descr="Computador com preenchimento sólido">
              <a:extLst>
                <a:ext uri="{FF2B5EF4-FFF2-40B4-BE49-F238E27FC236}">
                  <a16:creationId xmlns:a16="http://schemas.microsoft.com/office/drawing/2014/main" id="{D90D9A00-0FA3-4636-9DF9-B3B7B3F62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52304" y="2651919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D932A41F-00BE-94FD-F0FC-934BCC433DAD}"/>
              </a:ext>
            </a:extLst>
          </p:cNvPr>
          <p:cNvGrpSpPr/>
          <p:nvPr/>
        </p:nvGrpSpPr>
        <p:grpSpPr>
          <a:xfrm>
            <a:off x="7241529" y="2651919"/>
            <a:ext cx="2064544" cy="914400"/>
            <a:chOff x="6501790" y="2651919"/>
            <a:chExt cx="2064544" cy="914400"/>
          </a:xfrm>
        </p:grpSpPr>
        <p:pic>
          <p:nvPicPr>
            <p:cNvPr id="1026" name="Picture 2" descr="Computer Error GIFs | Tenor">
              <a:extLst>
                <a:ext uri="{FF2B5EF4-FFF2-40B4-BE49-F238E27FC236}">
                  <a16:creationId xmlns:a16="http://schemas.microsoft.com/office/drawing/2014/main" id="{5B032B3D-A588-1C0B-6B80-8A353F9D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1583" y="2928202"/>
              <a:ext cx="271368" cy="2528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Gráfico 14" descr="Pen Drive com preenchimento sólido">
              <a:extLst>
                <a:ext uri="{FF2B5EF4-FFF2-40B4-BE49-F238E27FC236}">
                  <a16:creationId xmlns:a16="http://schemas.microsoft.com/office/drawing/2014/main" id="{B26CF0E2-0B76-DD50-79E9-5659518D1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7194734" y="2887663"/>
              <a:ext cx="442912" cy="442912"/>
            </a:xfrm>
            <a:prstGeom prst="rect">
              <a:avLst/>
            </a:prstGeom>
          </p:spPr>
        </p:pic>
        <p:pic>
          <p:nvPicPr>
            <p:cNvPr id="16" name="Gráfico 15" descr="Mulher com preenchimento sólido">
              <a:extLst>
                <a:ext uri="{FF2B5EF4-FFF2-40B4-BE49-F238E27FC236}">
                  <a16:creationId xmlns:a16="http://schemas.microsoft.com/office/drawing/2014/main" id="{0D019D73-238B-D984-7AE0-14EAD6BCA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790" y="2651919"/>
              <a:ext cx="914400" cy="914400"/>
            </a:xfrm>
            <a:prstGeom prst="rect">
              <a:avLst/>
            </a:prstGeom>
          </p:spPr>
        </p:pic>
        <p:pic>
          <p:nvPicPr>
            <p:cNvPr id="17" name="Gráfico 16" descr="Computador com preenchimento sólido">
              <a:extLst>
                <a:ext uri="{FF2B5EF4-FFF2-40B4-BE49-F238E27FC236}">
                  <a16:creationId xmlns:a16="http://schemas.microsoft.com/office/drawing/2014/main" id="{338FF8E3-DC9D-E9E9-E549-7D72EF345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1934" y="2651919"/>
              <a:ext cx="914400" cy="914400"/>
            </a:xfrm>
            <a:prstGeom prst="rect">
              <a:avLst/>
            </a:prstGeom>
          </p:spPr>
        </p:pic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64184F9-B677-842B-5950-4053EB5F9CFF}"/>
              </a:ext>
            </a:extLst>
          </p:cNvPr>
          <p:cNvSpPr txBox="1"/>
          <p:nvPr/>
        </p:nvSpPr>
        <p:spPr>
          <a:xfrm>
            <a:off x="7157022" y="1741766"/>
            <a:ext cx="468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C:/User/Fulano/R/DeD/tabela_versao1.csv</a:t>
            </a:r>
            <a:endParaRPr lang="en-US" b="1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7A1422A-9E57-D03B-9B61-AA0D05ED49AC}"/>
              </a:ext>
            </a:extLst>
          </p:cNvPr>
          <p:cNvSpPr txBox="1"/>
          <p:nvPr/>
        </p:nvSpPr>
        <p:spPr>
          <a:xfrm>
            <a:off x="7157022" y="2104707"/>
            <a:ext cx="495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C:/User/Ciclano/R/Labic/tabela_versao1.csv</a:t>
            </a:r>
            <a:endParaRPr lang="en-US" b="1" dirty="0"/>
          </a:p>
        </p:txBody>
      </p:sp>
      <p:pic>
        <p:nvPicPr>
          <p:cNvPr id="24" name="Gráfico 23" descr="Computador com preenchimento sólido">
            <a:extLst>
              <a:ext uri="{FF2B5EF4-FFF2-40B4-BE49-F238E27FC236}">
                <a16:creationId xmlns:a16="http://schemas.microsoft.com/office/drawing/2014/main" id="{4F9E7E10-F2B9-1EC4-0CB7-6E90079806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80" y="2986796"/>
            <a:ext cx="638353" cy="638353"/>
          </a:xfrm>
          <a:prstGeom prst="rect">
            <a:avLst/>
          </a:prstGeom>
        </p:spPr>
      </p:pic>
      <p:cxnSp>
        <p:nvCxnSpPr>
          <p:cNvPr id="28" name="Conector: Curvo 27">
            <a:extLst>
              <a:ext uri="{FF2B5EF4-FFF2-40B4-BE49-F238E27FC236}">
                <a16:creationId xmlns:a16="http://schemas.microsoft.com/office/drawing/2014/main" id="{38B36998-C9B1-DC22-F9D0-8102B55AF824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5285423" y="2289373"/>
            <a:ext cx="1871599" cy="447354"/>
          </a:xfrm>
          <a:prstGeom prst="curved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Sinal de Multiplicação 29">
            <a:extLst>
              <a:ext uri="{FF2B5EF4-FFF2-40B4-BE49-F238E27FC236}">
                <a16:creationId xmlns:a16="http://schemas.microsoft.com/office/drawing/2014/main" id="{786BDDBA-2910-D503-5B11-392F3EC58D7C}"/>
              </a:ext>
            </a:extLst>
          </p:cNvPr>
          <p:cNvSpPr/>
          <p:nvPr/>
        </p:nvSpPr>
        <p:spPr>
          <a:xfrm>
            <a:off x="11707525" y="1937507"/>
            <a:ext cx="268092" cy="268092"/>
          </a:xfrm>
          <a:prstGeom prst="mathMultiply">
            <a:avLst>
              <a:gd name="adj1" fmla="val 1239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ABB0506-7828-900E-665A-6C27B74293CA}"/>
              </a:ext>
            </a:extLst>
          </p:cNvPr>
          <p:cNvSpPr txBox="1"/>
          <p:nvPr/>
        </p:nvSpPr>
        <p:spPr>
          <a:xfrm>
            <a:off x="216383" y="1623894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Sem RProject</a:t>
            </a:r>
            <a:endParaRPr lang="en-US" b="1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2A6CCF7-4500-87AE-AE58-107CD3FDA9F9}"/>
              </a:ext>
            </a:extLst>
          </p:cNvPr>
          <p:cNvSpPr txBox="1"/>
          <p:nvPr/>
        </p:nvSpPr>
        <p:spPr>
          <a:xfrm>
            <a:off x="216383" y="4208528"/>
            <a:ext cx="1677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Com RProject </a:t>
            </a:r>
            <a:endParaRPr lang="en-US" b="1" dirty="0"/>
          </a:p>
        </p:txBody>
      </p:sp>
      <p:pic>
        <p:nvPicPr>
          <p:cNvPr id="52" name="Gráfico 51" descr="Homem com preenchimento sólido">
            <a:extLst>
              <a:ext uri="{FF2B5EF4-FFF2-40B4-BE49-F238E27FC236}">
                <a16:creationId xmlns:a16="http://schemas.microsoft.com/office/drawing/2014/main" id="{3D5E8D4F-6CBF-8A27-2B0E-FB4808E4C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5437703"/>
            <a:ext cx="914400" cy="914400"/>
          </a:xfrm>
          <a:prstGeom prst="rect">
            <a:avLst/>
          </a:prstGeom>
        </p:spPr>
      </p:pic>
      <p:pic>
        <p:nvPicPr>
          <p:cNvPr id="53" name="Gráfico 52" descr="Mulher com preenchimento sólido">
            <a:extLst>
              <a:ext uri="{FF2B5EF4-FFF2-40B4-BE49-F238E27FC236}">
                <a16:creationId xmlns:a16="http://schemas.microsoft.com/office/drawing/2014/main" id="{0CBFF9F3-A47B-848B-685F-1901843FF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910" y="5437703"/>
            <a:ext cx="914400" cy="914400"/>
          </a:xfrm>
          <a:prstGeom prst="rect">
            <a:avLst/>
          </a:prstGeom>
        </p:spPr>
      </p:pic>
      <p:sp>
        <p:nvSpPr>
          <p:cNvPr id="54" name="Seta: Curva para Baixo 53">
            <a:extLst>
              <a:ext uri="{FF2B5EF4-FFF2-40B4-BE49-F238E27FC236}">
                <a16:creationId xmlns:a16="http://schemas.microsoft.com/office/drawing/2014/main" id="{DE6F1F68-5FD0-C031-510C-803DB5080B34}"/>
              </a:ext>
            </a:extLst>
          </p:cNvPr>
          <p:cNvSpPr/>
          <p:nvPr/>
        </p:nvSpPr>
        <p:spPr>
          <a:xfrm>
            <a:off x="838200" y="4926873"/>
            <a:ext cx="1216152" cy="442912"/>
          </a:xfrm>
          <a:prstGeom prst="curved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E16E29C1-5BA9-1366-172A-41B45E9AE7AC}"/>
              </a:ext>
            </a:extLst>
          </p:cNvPr>
          <p:cNvGrpSpPr/>
          <p:nvPr/>
        </p:nvGrpSpPr>
        <p:grpSpPr>
          <a:xfrm>
            <a:off x="3798241" y="5437703"/>
            <a:ext cx="2064544" cy="914400"/>
            <a:chOff x="3602160" y="2651919"/>
            <a:chExt cx="2064544" cy="914400"/>
          </a:xfrm>
        </p:grpSpPr>
        <p:pic>
          <p:nvPicPr>
            <p:cNvPr id="1025" name="Gráfico 1024" descr="Pen Drive com preenchimento sólido">
              <a:extLst>
                <a:ext uri="{FF2B5EF4-FFF2-40B4-BE49-F238E27FC236}">
                  <a16:creationId xmlns:a16="http://schemas.microsoft.com/office/drawing/2014/main" id="{D2C4ABCC-9F9E-AE20-9D94-A145D1D09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4295104" y="2887663"/>
              <a:ext cx="442912" cy="442912"/>
            </a:xfrm>
            <a:prstGeom prst="rect">
              <a:avLst/>
            </a:prstGeom>
          </p:spPr>
        </p:pic>
        <p:pic>
          <p:nvPicPr>
            <p:cNvPr id="1027" name="Gráfico 1026" descr="Mulher com preenchimento sólido">
              <a:extLst>
                <a:ext uri="{FF2B5EF4-FFF2-40B4-BE49-F238E27FC236}">
                  <a16:creationId xmlns:a16="http://schemas.microsoft.com/office/drawing/2014/main" id="{79144412-DC8C-1BE6-5554-B9672AAE3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02160" y="2651919"/>
              <a:ext cx="914400" cy="914400"/>
            </a:xfrm>
            <a:prstGeom prst="rect">
              <a:avLst/>
            </a:prstGeom>
          </p:spPr>
        </p:pic>
        <p:pic>
          <p:nvPicPr>
            <p:cNvPr id="1028" name="Gráfico 1027" descr="Computador com preenchimento sólido">
              <a:extLst>
                <a:ext uri="{FF2B5EF4-FFF2-40B4-BE49-F238E27FC236}">
                  <a16:creationId xmlns:a16="http://schemas.microsoft.com/office/drawing/2014/main" id="{889E488B-6225-A8D8-E8EF-965D99604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52304" y="2651919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EE30FCC5-D9EE-89A8-62CD-FBE79061FB54}"/>
              </a:ext>
            </a:extLst>
          </p:cNvPr>
          <p:cNvGrpSpPr/>
          <p:nvPr/>
        </p:nvGrpSpPr>
        <p:grpSpPr>
          <a:xfrm>
            <a:off x="7241529" y="5437703"/>
            <a:ext cx="2064544" cy="914400"/>
            <a:chOff x="6501790" y="2651919"/>
            <a:chExt cx="2064544" cy="914400"/>
          </a:xfrm>
        </p:grpSpPr>
        <p:pic>
          <p:nvPicPr>
            <p:cNvPr id="62" name="Gráfico 61" descr="Pen Drive com preenchimento sólido">
              <a:extLst>
                <a:ext uri="{FF2B5EF4-FFF2-40B4-BE49-F238E27FC236}">
                  <a16:creationId xmlns:a16="http://schemas.microsoft.com/office/drawing/2014/main" id="{8DF0AE37-DE0A-BABE-A351-831B717F1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 flipH="1" flipV="1">
              <a:off x="7194734" y="2887663"/>
              <a:ext cx="442912" cy="442912"/>
            </a:xfrm>
            <a:prstGeom prst="rect">
              <a:avLst/>
            </a:prstGeom>
          </p:spPr>
        </p:pic>
        <p:pic>
          <p:nvPicPr>
            <p:cNvPr id="63" name="Gráfico 62" descr="Mulher com preenchimento sólido">
              <a:extLst>
                <a:ext uri="{FF2B5EF4-FFF2-40B4-BE49-F238E27FC236}">
                  <a16:creationId xmlns:a16="http://schemas.microsoft.com/office/drawing/2014/main" id="{4C18A6BA-6E48-16A7-BCF8-D5A74B943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790" y="2651919"/>
              <a:ext cx="914400" cy="914400"/>
            </a:xfrm>
            <a:prstGeom prst="rect">
              <a:avLst/>
            </a:prstGeom>
          </p:spPr>
        </p:pic>
        <p:pic>
          <p:nvPicPr>
            <p:cNvPr id="1024" name="Gráfico 1023" descr="Computador com preenchimento sólido">
              <a:extLst>
                <a:ext uri="{FF2B5EF4-FFF2-40B4-BE49-F238E27FC236}">
                  <a16:creationId xmlns:a16="http://schemas.microsoft.com/office/drawing/2014/main" id="{01D6E207-C26F-16E9-2E8A-DB2C67419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1934" y="2651919"/>
              <a:ext cx="914400" cy="914400"/>
            </a:xfrm>
            <a:prstGeom prst="rect">
              <a:avLst/>
            </a:prstGeom>
          </p:spPr>
        </p:pic>
      </p:grp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C44ECE17-574B-0BDB-7178-2BC3E84F7739}"/>
              </a:ext>
            </a:extLst>
          </p:cNvPr>
          <p:cNvSpPr txBox="1"/>
          <p:nvPr/>
        </p:nvSpPr>
        <p:spPr>
          <a:xfrm>
            <a:off x="7157022" y="4527550"/>
            <a:ext cx="4407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Pasta_do_RProject</a:t>
            </a:r>
            <a:r>
              <a:rPr lang="pt-BR" b="1" dirty="0"/>
              <a:t>/tabela_versao1.csv</a:t>
            </a:r>
            <a:endParaRPr lang="en-US" b="1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28441CE-D786-E21E-D8F4-4502BBFF6AC3}"/>
              </a:ext>
            </a:extLst>
          </p:cNvPr>
          <p:cNvSpPr txBox="1"/>
          <p:nvPr/>
        </p:nvSpPr>
        <p:spPr>
          <a:xfrm>
            <a:off x="7157022" y="4890491"/>
            <a:ext cx="424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Pasta_do_RProject</a:t>
            </a:r>
            <a:r>
              <a:rPr lang="pt-BR" b="1" dirty="0"/>
              <a:t>/tabela_versao1.csv</a:t>
            </a:r>
            <a:endParaRPr lang="en-US" b="1" dirty="0"/>
          </a:p>
        </p:txBody>
      </p:sp>
      <p:pic>
        <p:nvPicPr>
          <p:cNvPr id="59" name="Gráfico 58" descr="Computador com preenchimento sólido">
            <a:extLst>
              <a:ext uri="{FF2B5EF4-FFF2-40B4-BE49-F238E27FC236}">
                <a16:creationId xmlns:a16="http://schemas.microsoft.com/office/drawing/2014/main" id="{AC4DA00F-C125-4893-36D1-63AC44AB45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80" y="5772580"/>
            <a:ext cx="638353" cy="638353"/>
          </a:xfrm>
          <a:prstGeom prst="rect">
            <a:avLst/>
          </a:prstGeom>
        </p:spPr>
      </p:pic>
      <p:cxnSp>
        <p:nvCxnSpPr>
          <p:cNvPr id="60" name="Conector: Curvo 59">
            <a:extLst>
              <a:ext uri="{FF2B5EF4-FFF2-40B4-BE49-F238E27FC236}">
                <a16:creationId xmlns:a16="http://schemas.microsoft.com/office/drawing/2014/main" id="{9AFA6F1C-ACAB-9BE1-A0A7-9CB8000A5D58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5285423" y="5075157"/>
            <a:ext cx="1871599" cy="447354"/>
          </a:xfrm>
          <a:prstGeom prst="curved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1" name="Gráfico 1030" descr="Pen Drive com preenchimento sólido">
            <a:extLst>
              <a:ext uri="{FF2B5EF4-FFF2-40B4-BE49-F238E27FC236}">
                <a16:creationId xmlns:a16="http://schemas.microsoft.com/office/drawing/2014/main" id="{FFAC380A-2C1A-0769-AA84-7180DFAB00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 flipH="1" flipV="1">
            <a:off x="1188596" y="1931847"/>
            <a:ext cx="442912" cy="442912"/>
          </a:xfrm>
          <a:prstGeom prst="rect">
            <a:avLst/>
          </a:prstGeom>
        </p:spPr>
      </p:pic>
      <p:pic>
        <p:nvPicPr>
          <p:cNvPr id="1032" name="Gráfico 1031" descr="Pen Drive com preenchimento sólido">
            <a:extLst>
              <a:ext uri="{FF2B5EF4-FFF2-40B4-BE49-F238E27FC236}">
                <a16:creationId xmlns:a16="http://schemas.microsoft.com/office/drawing/2014/main" id="{A2908717-8377-FC9C-6204-55D898AFBC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 flipH="1" flipV="1">
            <a:off x="1188596" y="4713645"/>
            <a:ext cx="442912" cy="442912"/>
          </a:xfrm>
          <a:prstGeom prst="rect">
            <a:avLst/>
          </a:prstGeom>
        </p:spPr>
      </p:pic>
      <p:pic>
        <p:nvPicPr>
          <p:cNvPr id="1033" name="Picture 6" descr="Smiling GIFs | Tenor">
            <a:extLst>
              <a:ext uri="{FF2B5EF4-FFF2-40B4-BE49-F238E27FC236}">
                <a16:creationId xmlns:a16="http://schemas.microsoft.com/office/drawing/2014/main" id="{94938017-902C-3EAD-7766-EC63A83EE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262" y="5679798"/>
            <a:ext cx="313611" cy="31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áfico 4" descr="Coração com preenchimento sólido">
            <a:extLst>
              <a:ext uri="{FF2B5EF4-FFF2-40B4-BE49-F238E27FC236}">
                <a16:creationId xmlns:a16="http://schemas.microsoft.com/office/drawing/2014/main" id="{63509822-DB75-67F1-47C3-84C4CE2900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61632" y="4124273"/>
            <a:ext cx="566955" cy="56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9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91222-63E9-FB82-E611-B4627B1D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DF159-1CAD-730E-26EF-1F270081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ele funciona?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C533E0-BF15-25A7-FFF6-9DB5DE42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12</a:t>
            </a:fld>
            <a:endParaRPr lang="en-US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4F74CED-8EB3-2CD2-CDF1-C8A13F749B6C}"/>
              </a:ext>
            </a:extLst>
          </p:cNvPr>
          <p:cNvSpPr txBox="1"/>
          <p:nvPr/>
        </p:nvSpPr>
        <p:spPr>
          <a:xfrm>
            <a:off x="514024" y="784336"/>
            <a:ext cx="115074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 RStudio vai </a:t>
            </a:r>
            <a:r>
              <a:rPr lang="pt-BR" sz="2000" b="1" dirty="0"/>
              <a:t>criar uma pasta </a:t>
            </a:r>
            <a:r>
              <a:rPr lang="pt-BR" sz="2000" dirty="0"/>
              <a:t>contendo um arquivo com a extensão </a:t>
            </a:r>
            <a:r>
              <a:rPr lang="pt-BR" sz="2000" b="1" dirty="0" err="1"/>
              <a:t>Rproj</a:t>
            </a:r>
            <a:r>
              <a:rPr lang="pt-BR" sz="2000" b="1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 Se você </a:t>
            </a:r>
            <a:r>
              <a:rPr lang="pt-BR" sz="2000" b="1" dirty="0"/>
              <a:t>clicar</a:t>
            </a:r>
            <a:r>
              <a:rPr lang="pt-BR" sz="2000" dirty="0"/>
              <a:t> nesse arquivo </a:t>
            </a:r>
            <a:r>
              <a:rPr lang="pt-BR" sz="2000" b="1" dirty="0" err="1"/>
              <a:t>Rproj</a:t>
            </a:r>
            <a:r>
              <a:rPr lang="pt-BR" sz="2000" dirty="0"/>
              <a:t>, ele abrira o RStudio  e vai configurar/entender que </a:t>
            </a:r>
            <a:r>
              <a:rPr lang="pt-BR" sz="2000" b="1" dirty="0"/>
              <a:t>o caminho </a:t>
            </a:r>
            <a:r>
              <a:rPr lang="en-US" sz="2000" b="1" dirty="0"/>
              <a:t>de </a:t>
            </a:r>
            <a:r>
              <a:rPr lang="en-US" sz="2000" b="1" dirty="0" err="1"/>
              <a:t>todos</a:t>
            </a:r>
            <a:r>
              <a:rPr lang="en-US" sz="2000" b="1" dirty="0"/>
              <a:t> </a:t>
            </a:r>
            <a:r>
              <a:rPr lang="en-US" sz="2000" b="1" dirty="0" err="1"/>
              <a:t>os</a:t>
            </a:r>
            <a:r>
              <a:rPr lang="en-US" sz="2000" b="1" dirty="0"/>
              <a:t> </a:t>
            </a:r>
            <a:r>
              <a:rPr lang="en-US" sz="2000" b="1" dirty="0" err="1"/>
              <a:t>arquivos</a:t>
            </a:r>
            <a:r>
              <a:rPr lang="en-US" sz="2000" b="1" dirty="0"/>
              <a:t> </a:t>
            </a:r>
            <a:r>
              <a:rPr lang="en-US" sz="2000" dirty="0" err="1"/>
              <a:t>carregados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b="1" dirty="0"/>
              <a:t>salvos </a:t>
            </a:r>
            <a:r>
              <a:rPr lang="en-US" sz="2000" b="1" dirty="0" err="1"/>
              <a:t>começam</a:t>
            </a:r>
            <a:r>
              <a:rPr lang="en-US" sz="2000" b="1" dirty="0"/>
              <a:t> a </a:t>
            </a:r>
            <a:r>
              <a:rPr lang="en-US" sz="2000" b="1" dirty="0" err="1"/>
              <a:t>partir</a:t>
            </a:r>
            <a:r>
              <a:rPr lang="en-US" sz="2000" b="1" dirty="0"/>
              <a:t> do </a:t>
            </a:r>
            <a:r>
              <a:rPr lang="en-US" sz="2000" b="1" dirty="0" err="1"/>
              <a:t>caminho</a:t>
            </a:r>
            <a:r>
              <a:rPr lang="en-US" sz="2000" b="1" dirty="0"/>
              <a:t> da pasta de </a:t>
            </a:r>
            <a:r>
              <a:rPr lang="en-US" sz="2000" b="1" dirty="0" err="1"/>
              <a:t>onde</a:t>
            </a:r>
            <a:r>
              <a:rPr lang="en-US" sz="2000" b="1" dirty="0"/>
              <a:t> o RProject </a:t>
            </a:r>
            <a:r>
              <a:rPr lang="en-US" sz="2000" b="1" dirty="0" err="1"/>
              <a:t>está</a:t>
            </a:r>
            <a:r>
              <a:rPr lang="en-US" sz="2000" b="1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Ele </a:t>
            </a:r>
            <a:r>
              <a:rPr lang="en-US" sz="2000" b="1" dirty="0" err="1"/>
              <a:t>ignora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b="1" dirty="0" err="1"/>
              <a:t>os</a:t>
            </a:r>
            <a:r>
              <a:rPr lang="en-US" sz="2000" b="1" dirty="0"/>
              <a:t> </a:t>
            </a:r>
            <a:r>
              <a:rPr lang="en-US" sz="2000" b="1" dirty="0" err="1"/>
              <a:t>caminhos</a:t>
            </a:r>
            <a:r>
              <a:rPr lang="en-US" sz="2000" b="1" dirty="0"/>
              <a:t> das pastas </a:t>
            </a:r>
            <a:r>
              <a:rPr lang="en-US" sz="2000" dirty="0"/>
              <a:t>que </a:t>
            </a:r>
            <a:r>
              <a:rPr lang="en-US" sz="2000" dirty="0" err="1"/>
              <a:t>existem</a:t>
            </a:r>
            <a:r>
              <a:rPr lang="en-US" sz="2000" dirty="0"/>
              <a:t> </a:t>
            </a:r>
            <a:r>
              <a:rPr lang="en-US" sz="2000" b="1" dirty="0"/>
              <a:t>antes do </a:t>
            </a:r>
            <a:r>
              <a:rPr lang="en-US" sz="2000" b="1" dirty="0" err="1"/>
              <a:t>Rproj</a:t>
            </a:r>
            <a:r>
              <a:rPr lang="en-US" sz="2000" b="1" dirty="0"/>
              <a:t>  </a:t>
            </a:r>
            <a:endParaRPr lang="pt-BR" sz="2000" b="1" dirty="0"/>
          </a:p>
        </p:txBody>
      </p:sp>
      <p:pic>
        <p:nvPicPr>
          <p:cNvPr id="40" name="Imagem 39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47001A5-1F5D-9DF0-7EBE-71805777A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562" y="3382368"/>
            <a:ext cx="3142875" cy="297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25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6AC8-37F1-2985-D37F-CE02DFFE2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F7C88-FEF3-D49A-5835-EE3DE33B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ele funciona?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39393F-7BCA-9104-1E40-276E94AE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13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1F301A4-BBF2-566B-1A1E-110AADBE7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898" y="1394973"/>
            <a:ext cx="5862203" cy="5143939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9FA6644-E944-FA05-985C-04654D3BDE30}"/>
              </a:ext>
            </a:extLst>
          </p:cNvPr>
          <p:cNvSpPr/>
          <p:nvPr/>
        </p:nvSpPr>
        <p:spPr>
          <a:xfrm>
            <a:off x="4572000" y="2345167"/>
            <a:ext cx="1409252" cy="13984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B904205-CD7E-07CF-A133-094E2F3096DB}"/>
              </a:ext>
            </a:extLst>
          </p:cNvPr>
          <p:cNvSpPr/>
          <p:nvPr/>
        </p:nvSpPr>
        <p:spPr>
          <a:xfrm>
            <a:off x="6251986" y="4487732"/>
            <a:ext cx="815788" cy="1272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9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CE57-D85F-0E18-46D3-94A15085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7B316-B7DE-87DE-9712-BEDC3CE6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ele funciona?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85AF58-CC40-D948-7473-7F8936C2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14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D959082-F4DE-F25A-FCD0-D0B8CB69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898" y="1394973"/>
            <a:ext cx="5862203" cy="5143939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B182A0F-7BDF-E501-D626-BD7B525DA8D0}"/>
              </a:ext>
            </a:extLst>
          </p:cNvPr>
          <p:cNvSpPr/>
          <p:nvPr/>
        </p:nvSpPr>
        <p:spPr>
          <a:xfrm>
            <a:off x="4572000" y="2345167"/>
            <a:ext cx="1409252" cy="13984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5082731-8D11-E8B4-A16E-39D691FED87A}"/>
              </a:ext>
            </a:extLst>
          </p:cNvPr>
          <p:cNvSpPr/>
          <p:nvPr/>
        </p:nvSpPr>
        <p:spPr>
          <a:xfrm>
            <a:off x="6251986" y="4487732"/>
            <a:ext cx="815788" cy="1272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407EBDB-EDD9-B84A-0C54-3AA3766C5F43}"/>
              </a:ext>
            </a:extLst>
          </p:cNvPr>
          <p:cNvSpPr/>
          <p:nvPr/>
        </p:nvSpPr>
        <p:spPr>
          <a:xfrm>
            <a:off x="6176682" y="4010995"/>
            <a:ext cx="1945342" cy="127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23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47B3-4B71-D231-7B0C-D62BD77B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132C6-87E9-CA3F-6D06-DE9B35F6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ele funciona?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581E96-712A-B3AA-1BFA-37E51C96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15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AB2BDA1-9B3B-B48A-3405-F8E504900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898" y="1394973"/>
            <a:ext cx="5862203" cy="5143939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AB0CCE7-7962-2185-0374-F5555C7CAE7C}"/>
              </a:ext>
            </a:extLst>
          </p:cNvPr>
          <p:cNvSpPr/>
          <p:nvPr/>
        </p:nvSpPr>
        <p:spPr>
          <a:xfrm>
            <a:off x="4572000" y="2345167"/>
            <a:ext cx="1409252" cy="13984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348424A-F792-D06F-93F1-5E7D989FF46C}"/>
              </a:ext>
            </a:extLst>
          </p:cNvPr>
          <p:cNvSpPr/>
          <p:nvPr/>
        </p:nvSpPr>
        <p:spPr>
          <a:xfrm>
            <a:off x="6251986" y="4487732"/>
            <a:ext cx="815788" cy="1272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05CBE04-D684-6147-0B07-9CD0C02EC5E6}"/>
              </a:ext>
            </a:extLst>
          </p:cNvPr>
          <p:cNvSpPr/>
          <p:nvPr/>
        </p:nvSpPr>
        <p:spPr>
          <a:xfrm>
            <a:off x="6176682" y="4010995"/>
            <a:ext cx="1945342" cy="127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73FDBB-F3F5-CD3B-158B-EE36F264AB5E}"/>
              </a:ext>
            </a:extLst>
          </p:cNvPr>
          <p:cNvSpPr txBox="1"/>
          <p:nvPr/>
        </p:nvSpPr>
        <p:spPr>
          <a:xfrm>
            <a:off x="2948492" y="894777"/>
            <a:ext cx="688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0000"/>
                </a:highlight>
              </a:rPr>
              <a:t>C:/Users/Yuri/Desktop/projeto_teste/</a:t>
            </a:r>
            <a:r>
              <a:rPr lang="en-US" b="1" dirty="0">
                <a:highlight>
                  <a:srgbClr val="FFFF00"/>
                </a:highlight>
              </a:rPr>
              <a:t>00_dados/tabela.csv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91E2B1-6A75-A9B5-AB7D-D2273C8F56D2}"/>
              </a:ext>
            </a:extLst>
          </p:cNvPr>
          <p:cNvSpPr txBox="1"/>
          <p:nvPr/>
        </p:nvSpPr>
        <p:spPr>
          <a:xfrm>
            <a:off x="1282010" y="894777"/>
            <a:ext cx="1666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Sem </a:t>
            </a:r>
            <a:r>
              <a:rPr lang="pt-BR" b="1" dirty="0" err="1"/>
              <a:t>Rproject</a:t>
            </a:r>
            <a:r>
              <a:rPr lang="pt-BR" b="1" dirty="0"/>
              <a:t>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56710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0A5A-E133-D69E-AC88-187C16FE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C616A-8CD7-619D-2FAA-47D9FC27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6C4C00-926A-07F2-FBA5-965CAFFC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16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23821E7-B9CC-47D5-623B-AFAABA552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2" y="990824"/>
            <a:ext cx="6527468" cy="573065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E2AD7CD-CCF1-9181-7475-FED862B22026}"/>
              </a:ext>
            </a:extLst>
          </p:cNvPr>
          <p:cNvSpPr/>
          <p:nvPr/>
        </p:nvSpPr>
        <p:spPr>
          <a:xfrm>
            <a:off x="5605771" y="1471353"/>
            <a:ext cx="948309" cy="1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82A1B4B-E53C-13C0-9C38-08C48526348B}"/>
              </a:ext>
            </a:extLst>
          </p:cNvPr>
          <p:cNvSpPr/>
          <p:nvPr/>
        </p:nvSpPr>
        <p:spPr>
          <a:xfrm>
            <a:off x="5348917" y="1214499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00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3D66-5051-A927-A0AF-11F17818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79FDA-6FB8-895B-648D-F027A83A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A925A6-3C74-55DB-A34D-6357F3E5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17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78EC84C-560E-C6B6-CAC9-7A5DC899A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2" y="990824"/>
            <a:ext cx="6527468" cy="573065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1C2A585-3CC6-1C49-F224-C7D86866665D}"/>
              </a:ext>
            </a:extLst>
          </p:cNvPr>
          <p:cNvSpPr/>
          <p:nvPr/>
        </p:nvSpPr>
        <p:spPr>
          <a:xfrm>
            <a:off x="5605771" y="1471353"/>
            <a:ext cx="948309" cy="1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861858-9BE7-8B08-6334-320FC61E3A6F}"/>
              </a:ext>
            </a:extLst>
          </p:cNvPr>
          <p:cNvSpPr/>
          <p:nvPr/>
        </p:nvSpPr>
        <p:spPr>
          <a:xfrm>
            <a:off x="1056501" y="1658732"/>
            <a:ext cx="948309" cy="251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67AB010-7623-17EF-45B5-B5222C35B2A9}"/>
              </a:ext>
            </a:extLst>
          </p:cNvPr>
          <p:cNvSpPr/>
          <p:nvPr/>
        </p:nvSpPr>
        <p:spPr>
          <a:xfrm>
            <a:off x="5348917" y="1214499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F6E3E7E-86C6-D7B4-1994-335439D06A83}"/>
              </a:ext>
            </a:extLst>
          </p:cNvPr>
          <p:cNvSpPr/>
          <p:nvPr/>
        </p:nvSpPr>
        <p:spPr>
          <a:xfrm>
            <a:off x="2083133" y="1653641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47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0E8C6-89AD-0CE8-C3E0-33D7607D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C332C-4E22-FC14-98FA-C5D67E02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37E8A4-7BA1-1F1E-67B8-8CCF6DD6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18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CFB54D6-5C64-1C3C-D754-91F50EB1F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2" y="990824"/>
            <a:ext cx="6527468" cy="573065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D321986-F495-C0D2-9D81-179581B815EF}"/>
              </a:ext>
            </a:extLst>
          </p:cNvPr>
          <p:cNvSpPr/>
          <p:nvPr/>
        </p:nvSpPr>
        <p:spPr>
          <a:xfrm>
            <a:off x="5605771" y="1471353"/>
            <a:ext cx="948309" cy="1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7D55FEE-64F7-EDA6-208A-1E1860D3E000}"/>
              </a:ext>
            </a:extLst>
          </p:cNvPr>
          <p:cNvSpPr/>
          <p:nvPr/>
        </p:nvSpPr>
        <p:spPr>
          <a:xfrm>
            <a:off x="1056501" y="1658732"/>
            <a:ext cx="948309" cy="251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8E3760A-1EC6-AA83-4424-B696F25AA993}"/>
              </a:ext>
            </a:extLst>
          </p:cNvPr>
          <p:cNvSpPr/>
          <p:nvPr/>
        </p:nvSpPr>
        <p:spPr>
          <a:xfrm>
            <a:off x="5348917" y="1214499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20CE0D7-240C-AB6E-DAAA-630BD26C0790}"/>
              </a:ext>
            </a:extLst>
          </p:cNvPr>
          <p:cNvSpPr/>
          <p:nvPr/>
        </p:nvSpPr>
        <p:spPr>
          <a:xfrm>
            <a:off x="2083133" y="1653641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  <p:pic>
        <p:nvPicPr>
          <p:cNvPr id="12" name="Imagem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E6B7A93-8889-253C-E379-73FF12631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840" y="999280"/>
            <a:ext cx="2743199" cy="19755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C5286604-2E05-8418-B70F-D9965B3782D8}"/>
              </a:ext>
            </a:extLst>
          </p:cNvPr>
          <p:cNvSpPr/>
          <p:nvPr/>
        </p:nvSpPr>
        <p:spPr>
          <a:xfrm>
            <a:off x="6688182" y="1445168"/>
            <a:ext cx="1785697" cy="352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BC462A1-39C9-7293-1DD1-D27F7CD6BEE8}"/>
              </a:ext>
            </a:extLst>
          </p:cNvPr>
          <p:cNvSpPr/>
          <p:nvPr/>
        </p:nvSpPr>
        <p:spPr>
          <a:xfrm>
            <a:off x="8482173" y="1158657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3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C4DF-6024-B1C3-D235-F29EF08B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4D8AE-2960-0DDC-17C5-3887D463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DFEE74-A126-3496-54BA-8A4F64B5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19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4A800EF-B8DC-4B20-5914-ED20FC199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2" y="990824"/>
            <a:ext cx="6527468" cy="573065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D2F9921-975F-0CA2-3850-F26F52FE7E7A}"/>
              </a:ext>
            </a:extLst>
          </p:cNvPr>
          <p:cNvSpPr/>
          <p:nvPr/>
        </p:nvSpPr>
        <p:spPr>
          <a:xfrm>
            <a:off x="5605771" y="1471353"/>
            <a:ext cx="948309" cy="1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36FDFD3-CA57-7C2B-6B64-5CA8147547A3}"/>
              </a:ext>
            </a:extLst>
          </p:cNvPr>
          <p:cNvSpPr/>
          <p:nvPr/>
        </p:nvSpPr>
        <p:spPr>
          <a:xfrm>
            <a:off x="1056501" y="1658732"/>
            <a:ext cx="948309" cy="251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2AFC761-5F7D-7538-B5D1-498EE0B8FC73}"/>
              </a:ext>
            </a:extLst>
          </p:cNvPr>
          <p:cNvSpPr/>
          <p:nvPr/>
        </p:nvSpPr>
        <p:spPr>
          <a:xfrm>
            <a:off x="5348917" y="1214499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3A488E9-4D16-8C14-4F5B-B64937DD1C1F}"/>
              </a:ext>
            </a:extLst>
          </p:cNvPr>
          <p:cNvSpPr/>
          <p:nvPr/>
        </p:nvSpPr>
        <p:spPr>
          <a:xfrm>
            <a:off x="2083133" y="1653641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  <p:pic>
        <p:nvPicPr>
          <p:cNvPr id="12" name="Imagem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7D175FDC-7553-91CA-813F-C56FF8E7B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840" y="999280"/>
            <a:ext cx="2743199" cy="197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1D7D1ED-124A-6A0C-2BF2-CC9C66604F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188" y="999280"/>
            <a:ext cx="2743200" cy="1986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2B0CC479-D3AB-0FA3-DB7A-94ADBD96F7FF}"/>
              </a:ext>
            </a:extLst>
          </p:cNvPr>
          <p:cNvSpPr/>
          <p:nvPr/>
        </p:nvSpPr>
        <p:spPr>
          <a:xfrm>
            <a:off x="6688182" y="1445168"/>
            <a:ext cx="1785697" cy="352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DA6DD6C-BB94-3E02-B643-1F103C06DE1C}"/>
              </a:ext>
            </a:extLst>
          </p:cNvPr>
          <p:cNvSpPr/>
          <p:nvPr/>
        </p:nvSpPr>
        <p:spPr>
          <a:xfrm>
            <a:off x="9422189" y="1419485"/>
            <a:ext cx="1794890" cy="196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14F94E8-4612-26A8-1C7B-BFE88A307B58}"/>
              </a:ext>
            </a:extLst>
          </p:cNvPr>
          <p:cNvSpPr/>
          <p:nvPr/>
        </p:nvSpPr>
        <p:spPr>
          <a:xfrm>
            <a:off x="8482173" y="1158657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en-U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7B111C2-07D0-1323-E412-BD4B1A0EF474}"/>
              </a:ext>
            </a:extLst>
          </p:cNvPr>
          <p:cNvSpPr/>
          <p:nvPr/>
        </p:nvSpPr>
        <p:spPr>
          <a:xfrm>
            <a:off x="11238413" y="1122583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141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34DAA-15CB-C917-7B33-B5931AB7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8A855-A3A6-D22A-03FF-F5A57032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572B1F-BDA3-9594-DBA3-D3D68E94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20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DEED239-1694-AD50-31EE-9396EEC57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2" y="990824"/>
            <a:ext cx="6527468" cy="573065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937B77F-C9B5-0449-480D-EE608678E340}"/>
              </a:ext>
            </a:extLst>
          </p:cNvPr>
          <p:cNvSpPr/>
          <p:nvPr/>
        </p:nvSpPr>
        <p:spPr>
          <a:xfrm>
            <a:off x="5605771" y="1471353"/>
            <a:ext cx="948309" cy="1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9705AEB-FE46-117A-EBB9-A0C4EFFCD4EE}"/>
              </a:ext>
            </a:extLst>
          </p:cNvPr>
          <p:cNvSpPr/>
          <p:nvPr/>
        </p:nvSpPr>
        <p:spPr>
          <a:xfrm>
            <a:off x="1056501" y="1658732"/>
            <a:ext cx="948309" cy="251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8793C67-19F9-40F4-4E63-CFD4D3F3F590}"/>
              </a:ext>
            </a:extLst>
          </p:cNvPr>
          <p:cNvSpPr/>
          <p:nvPr/>
        </p:nvSpPr>
        <p:spPr>
          <a:xfrm>
            <a:off x="5348917" y="1214499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0BBEDD0-B77A-87B2-3CCD-0DFC14CAACF0}"/>
              </a:ext>
            </a:extLst>
          </p:cNvPr>
          <p:cNvSpPr/>
          <p:nvPr/>
        </p:nvSpPr>
        <p:spPr>
          <a:xfrm>
            <a:off x="2083133" y="1653641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  <p:pic>
        <p:nvPicPr>
          <p:cNvPr id="12" name="Imagem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10C7F74D-9671-A7F6-42F3-FD9703870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840" y="999280"/>
            <a:ext cx="2743199" cy="197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8F52DF5-5213-8DBF-E83C-1A41149D2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188" y="999280"/>
            <a:ext cx="2743200" cy="1986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5A4A95C7-9588-8ECC-3A76-C44A071F85B5}"/>
              </a:ext>
            </a:extLst>
          </p:cNvPr>
          <p:cNvSpPr/>
          <p:nvPr/>
        </p:nvSpPr>
        <p:spPr>
          <a:xfrm>
            <a:off x="6688182" y="1445168"/>
            <a:ext cx="1785697" cy="352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7C0BA56-5754-C805-9F8A-DC5D65C7F22B}"/>
              </a:ext>
            </a:extLst>
          </p:cNvPr>
          <p:cNvSpPr/>
          <p:nvPr/>
        </p:nvSpPr>
        <p:spPr>
          <a:xfrm>
            <a:off x="9422189" y="1419485"/>
            <a:ext cx="1794890" cy="196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m 1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998DE54-AF97-3ED3-B1CE-40630A1D60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458" y="3145289"/>
            <a:ext cx="4277162" cy="30516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E2A09DA2-1AB6-3EBF-558B-40AF29B7D81F}"/>
              </a:ext>
            </a:extLst>
          </p:cNvPr>
          <p:cNvSpPr/>
          <p:nvPr/>
        </p:nvSpPr>
        <p:spPr>
          <a:xfrm>
            <a:off x="8261341" y="3861414"/>
            <a:ext cx="2597159" cy="401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BD1ED8DD-DA5D-52AB-B594-E49FEDE2EB9E}"/>
              </a:ext>
            </a:extLst>
          </p:cNvPr>
          <p:cNvSpPr/>
          <p:nvPr/>
        </p:nvSpPr>
        <p:spPr>
          <a:xfrm>
            <a:off x="8482173" y="1158657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en-U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3A3D3AD-A2AA-33C4-A488-179ED7267F89}"/>
              </a:ext>
            </a:extLst>
          </p:cNvPr>
          <p:cNvSpPr/>
          <p:nvPr/>
        </p:nvSpPr>
        <p:spPr>
          <a:xfrm>
            <a:off x="11238413" y="1122583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  <a:endParaRPr lang="en-U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5CCC9CD-B59F-0E4C-CFC6-8D4EC52F2DB2}"/>
              </a:ext>
            </a:extLst>
          </p:cNvPr>
          <p:cNvSpPr/>
          <p:nvPr/>
        </p:nvSpPr>
        <p:spPr>
          <a:xfrm>
            <a:off x="10822108" y="3605675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B9A888B-1D61-B2DE-3CB9-0A740562CE8B}"/>
              </a:ext>
            </a:extLst>
          </p:cNvPr>
          <p:cNvSpPr/>
          <p:nvPr/>
        </p:nvSpPr>
        <p:spPr>
          <a:xfrm>
            <a:off x="6249335" y="87198"/>
            <a:ext cx="3441074" cy="7527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Escolha um nome para o diretório, o nome será o mesmo para o arquivo </a:t>
            </a:r>
            <a:r>
              <a:rPr lang="pt-BR" sz="1400" b="1" dirty="0" err="1">
                <a:solidFill>
                  <a:schemeClr val="tx1"/>
                </a:solidFill>
              </a:rPr>
              <a:t>Rproj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4EA2595-6470-81E6-A91E-595A0448DD27}"/>
              </a:ext>
            </a:extLst>
          </p:cNvPr>
          <p:cNvSpPr/>
          <p:nvPr/>
        </p:nvSpPr>
        <p:spPr>
          <a:xfrm>
            <a:off x="9561982" y="-43892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385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A030-47B3-39CC-59BC-53C80FCF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64FB8-C0D3-6BDB-9A24-416A34454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74844E-3CFD-4836-87F1-15ED92F8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21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551E2D8-8A27-30EF-8D8D-D3CB87F65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2" y="990824"/>
            <a:ext cx="6527468" cy="573065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912AE4A-3055-E329-35DE-FE45A42ADA5E}"/>
              </a:ext>
            </a:extLst>
          </p:cNvPr>
          <p:cNvSpPr/>
          <p:nvPr/>
        </p:nvSpPr>
        <p:spPr>
          <a:xfrm>
            <a:off x="5605771" y="1471353"/>
            <a:ext cx="948309" cy="1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E038F9-A26F-1826-D04B-77CFC3EEE0FF}"/>
              </a:ext>
            </a:extLst>
          </p:cNvPr>
          <p:cNvSpPr/>
          <p:nvPr/>
        </p:nvSpPr>
        <p:spPr>
          <a:xfrm>
            <a:off x="1056501" y="1658732"/>
            <a:ext cx="948309" cy="251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2D09EA4-8097-46C9-298A-E4FEF3988DAF}"/>
              </a:ext>
            </a:extLst>
          </p:cNvPr>
          <p:cNvSpPr/>
          <p:nvPr/>
        </p:nvSpPr>
        <p:spPr>
          <a:xfrm>
            <a:off x="5348917" y="1214499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6E9D95B-50C0-9808-872D-4DA60202A44E}"/>
              </a:ext>
            </a:extLst>
          </p:cNvPr>
          <p:cNvSpPr/>
          <p:nvPr/>
        </p:nvSpPr>
        <p:spPr>
          <a:xfrm>
            <a:off x="2083133" y="1653641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  <p:pic>
        <p:nvPicPr>
          <p:cNvPr id="12" name="Imagem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36CCC5C-C3DD-8A8F-5CC8-9029AE4B9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840" y="999280"/>
            <a:ext cx="2743199" cy="197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1022A3E-E4A5-A75B-E29C-3A117E772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188" y="999280"/>
            <a:ext cx="2743200" cy="1986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D60514CA-942A-8215-3993-67DB9B27BF34}"/>
              </a:ext>
            </a:extLst>
          </p:cNvPr>
          <p:cNvSpPr/>
          <p:nvPr/>
        </p:nvSpPr>
        <p:spPr>
          <a:xfrm>
            <a:off x="6688182" y="1445168"/>
            <a:ext cx="1785697" cy="352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B7F46D1-9629-8C04-D94C-98A5DA4513A3}"/>
              </a:ext>
            </a:extLst>
          </p:cNvPr>
          <p:cNvSpPr/>
          <p:nvPr/>
        </p:nvSpPr>
        <p:spPr>
          <a:xfrm>
            <a:off x="9422189" y="1419485"/>
            <a:ext cx="1794890" cy="196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m 1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5A5F4DE-8CB8-3652-9306-90E5180654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458" y="3145289"/>
            <a:ext cx="4277162" cy="30516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D3AF1C9E-79F2-F101-FE10-63DD392A08C5}"/>
              </a:ext>
            </a:extLst>
          </p:cNvPr>
          <p:cNvSpPr/>
          <p:nvPr/>
        </p:nvSpPr>
        <p:spPr>
          <a:xfrm>
            <a:off x="8261341" y="3861414"/>
            <a:ext cx="2597159" cy="401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C9BF19E-225A-F03E-08D3-3E2AE5A43341}"/>
              </a:ext>
            </a:extLst>
          </p:cNvPr>
          <p:cNvSpPr/>
          <p:nvPr/>
        </p:nvSpPr>
        <p:spPr>
          <a:xfrm>
            <a:off x="8261341" y="4269155"/>
            <a:ext cx="2459999" cy="401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283C2CE-E7CC-7467-522F-2EF2DEB554B8}"/>
              </a:ext>
            </a:extLst>
          </p:cNvPr>
          <p:cNvSpPr/>
          <p:nvPr/>
        </p:nvSpPr>
        <p:spPr>
          <a:xfrm>
            <a:off x="8482173" y="1158657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en-U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80692CF-E09F-D3D6-7CB3-77AF878FD622}"/>
              </a:ext>
            </a:extLst>
          </p:cNvPr>
          <p:cNvSpPr/>
          <p:nvPr/>
        </p:nvSpPr>
        <p:spPr>
          <a:xfrm>
            <a:off x="11238413" y="1122583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  <a:endParaRPr lang="en-U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3A72982-3388-008B-537E-4C7C3B73E20B}"/>
              </a:ext>
            </a:extLst>
          </p:cNvPr>
          <p:cNvSpPr/>
          <p:nvPr/>
        </p:nvSpPr>
        <p:spPr>
          <a:xfrm>
            <a:off x="10822108" y="3605675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6D33391B-8672-8FB4-9826-00A58EFA0A7A}"/>
              </a:ext>
            </a:extLst>
          </p:cNvPr>
          <p:cNvSpPr/>
          <p:nvPr/>
        </p:nvSpPr>
        <p:spPr>
          <a:xfrm>
            <a:off x="7969872" y="4671130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  <a:endParaRPr lang="en-US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597ED39-66D4-43A6-D65E-A58582529A43}"/>
              </a:ext>
            </a:extLst>
          </p:cNvPr>
          <p:cNvSpPr/>
          <p:nvPr/>
        </p:nvSpPr>
        <p:spPr>
          <a:xfrm>
            <a:off x="6249335" y="87198"/>
            <a:ext cx="3441074" cy="7527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Escolha um nome para o diretório, o nome será o mesmo para o arquivo </a:t>
            </a:r>
            <a:r>
              <a:rPr lang="pt-BR" sz="1400" b="1" dirty="0" err="1">
                <a:solidFill>
                  <a:schemeClr val="tx1"/>
                </a:solidFill>
              </a:rPr>
              <a:t>Rproj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A7517E4B-426B-96AD-CE29-4FB16FF093A2}"/>
              </a:ext>
            </a:extLst>
          </p:cNvPr>
          <p:cNvSpPr/>
          <p:nvPr/>
        </p:nvSpPr>
        <p:spPr>
          <a:xfrm>
            <a:off x="9561982" y="-43892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A51BD86-23C1-84DE-6A42-E0CE1C1F07DD}"/>
              </a:ext>
            </a:extLst>
          </p:cNvPr>
          <p:cNvSpPr/>
          <p:nvPr/>
        </p:nvSpPr>
        <p:spPr>
          <a:xfrm>
            <a:off x="7718939" y="5229978"/>
            <a:ext cx="3441074" cy="3324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Crie/salve </a:t>
            </a:r>
            <a:r>
              <a:rPr lang="pt-BR" sz="1400" dirty="0">
                <a:solidFill>
                  <a:schemeClr val="tx1"/>
                </a:solidFill>
              </a:rPr>
              <a:t>o projeto no diretório </a:t>
            </a:r>
            <a:r>
              <a:rPr lang="pt-BR" sz="1400" b="1" dirty="0">
                <a:solidFill>
                  <a:schemeClr val="tx1"/>
                </a:solidFill>
              </a:rPr>
              <a:t>C:/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1E3EA4E-007A-1891-37D3-95142FBE9CBC}"/>
              </a:ext>
            </a:extLst>
          </p:cNvPr>
          <p:cNvSpPr/>
          <p:nvPr/>
        </p:nvSpPr>
        <p:spPr>
          <a:xfrm>
            <a:off x="11078962" y="5069520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10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FE75-2E98-02D5-217B-C7332DB3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0231A-A8CF-0D92-EBC9-F92502927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DF9683-AC75-8E4B-79A5-7B15C9A0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22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F66728E-4C6F-9666-B7EC-5E0541F8F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2" y="990824"/>
            <a:ext cx="6527468" cy="573065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1FE8316-ADD1-5019-8A83-73BD4D34D463}"/>
              </a:ext>
            </a:extLst>
          </p:cNvPr>
          <p:cNvSpPr/>
          <p:nvPr/>
        </p:nvSpPr>
        <p:spPr>
          <a:xfrm>
            <a:off x="5605771" y="1471353"/>
            <a:ext cx="948309" cy="1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662B0E-F8A9-8565-068B-5C9539E1FE61}"/>
              </a:ext>
            </a:extLst>
          </p:cNvPr>
          <p:cNvSpPr/>
          <p:nvPr/>
        </p:nvSpPr>
        <p:spPr>
          <a:xfrm>
            <a:off x="1056501" y="1658732"/>
            <a:ext cx="948309" cy="251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76CF5E8-92D1-B031-BBD9-83CD9D802D29}"/>
              </a:ext>
            </a:extLst>
          </p:cNvPr>
          <p:cNvSpPr/>
          <p:nvPr/>
        </p:nvSpPr>
        <p:spPr>
          <a:xfrm>
            <a:off x="5348917" y="1214499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255A03E-945D-625A-3986-E4EBD64D2367}"/>
              </a:ext>
            </a:extLst>
          </p:cNvPr>
          <p:cNvSpPr/>
          <p:nvPr/>
        </p:nvSpPr>
        <p:spPr>
          <a:xfrm>
            <a:off x="2083133" y="1653641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  <p:pic>
        <p:nvPicPr>
          <p:cNvPr id="12" name="Imagem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41DECBAB-F01E-9703-4301-EB840E398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840" y="999280"/>
            <a:ext cx="2743199" cy="197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6EE2BC5-13D4-43DA-B4C6-9FBD5CB14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188" y="999280"/>
            <a:ext cx="2743200" cy="1986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D042CC62-E281-7CBF-D9E3-C082C0BE9CD0}"/>
              </a:ext>
            </a:extLst>
          </p:cNvPr>
          <p:cNvSpPr/>
          <p:nvPr/>
        </p:nvSpPr>
        <p:spPr>
          <a:xfrm>
            <a:off x="6688182" y="1445168"/>
            <a:ext cx="1785697" cy="352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32F07FD-446A-AF85-A586-4973E7BAACB1}"/>
              </a:ext>
            </a:extLst>
          </p:cNvPr>
          <p:cNvSpPr/>
          <p:nvPr/>
        </p:nvSpPr>
        <p:spPr>
          <a:xfrm>
            <a:off x="9422189" y="1419485"/>
            <a:ext cx="1794890" cy="196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m 1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AB0978AB-B341-5587-F365-3C95880F1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458" y="3145289"/>
            <a:ext cx="4277162" cy="30516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3090228B-F2B9-BDFE-4818-3212462E7FA7}"/>
              </a:ext>
            </a:extLst>
          </p:cNvPr>
          <p:cNvSpPr/>
          <p:nvPr/>
        </p:nvSpPr>
        <p:spPr>
          <a:xfrm>
            <a:off x="8261341" y="3861414"/>
            <a:ext cx="2597159" cy="401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495F870-0222-C8DA-62E5-573BF1B3134F}"/>
              </a:ext>
            </a:extLst>
          </p:cNvPr>
          <p:cNvSpPr/>
          <p:nvPr/>
        </p:nvSpPr>
        <p:spPr>
          <a:xfrm>
            <a:off x="8261341" y="4269155"/>
            <a:ext cx="2459999" cy="401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169A709-BB28-B84F-CD24-10D40507D585}"/>
              </a:ext>
            </a:extLst>
          </p:cNvPr>
          <p:cNvSpPr/>
          <p:nvPr/>
        </p:nvSpPr>
        <p:spPr>
          <a:xfrm>
            <a:off x="8482173" y="1158657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en-U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A19E2D0-6D31-02D4-4BEF-910E9310C00B}"/>
              </a:ext>
            </a:extLst>
          </p:cNvPr>
          <p:cNvSpPr/>
          <p:nvPr/>
        </p:nvSpPr>
        <p:spPr>
          <a:xfrm>
            <a:off x="11238413" y="1122583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  <a:endParaRPr lang="en-U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02D592F-BB9E-D43E-014E-C879349CA458}"/>
              </a:ext>
            </a:extLst>
          </p:cNvPr>
          <p:cNvSpPr/>
          <p:nvPr/>
        </p:nvSpPr>
        <p:spPr>
          <a:xfrm>
            <a:off x="10822108" y="3605675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0B43EC2E-D143-7A4E-943F-5BF06FBC2C88}"/>
              </a:ext>
            </a:extLst>
          </p:cNvPr>
          <p:cNvSpPr/>
          <p:nvPr/>
        </p:nvSpPr>
        <p:spPr>
          <a:xfrm>
            <a:off x="7969872" y="4671130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  <a:endParaRPr lang="en-US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82EAE93-02B2-723E-6D8B-51063FFE261A}"/>
              </a:ext>
            </a:extLst>
          </p:cNvPr>
          <p:cNvSpPr/>
          <p:nvPr/>
        </p:nvSpPr>
        <p:spPr>
          <a:xfrm>
            <a:off x="6249335" y="87198"/>
            <a:ext cx="3441074" cy="7527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Escolha um nome para o diretório, o nome será o mesmo para o arquivo </a:t>
            </a:r>
            <a:r>
              <a:rPr lang="pt-BR" sz="1400" b="1" dirty="0" err="1">
                <a:solidFill>
                  <a:schemeClr val="tx1"/>
                </a:solidFill>
              </a:rPr>
              <a:t>Rproj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BEAA7A6-DB23-6001-6B78-74BBD0C943B7}"/>
              </a:ext>
            </a:extLst>
          </p:cNvPr>
          <p:cNvSpPr/>
          <p:nvPr/>
        </p:nvSpPr>
        <p:spPr>
          <a:xfrm>
            <a:off x="9561982" y="-43892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E6070F0-6127-259F-CCCA-99A27024A167}"/>
              </a:ext>
            </a:extLst>
          </p:cNvPr>
          <p:cNvSpPr/>
          <p:nvPr/>
        </p:nvSpPr>
        <p:spPr>
          <a:xfrm>
            <a:off x="7718939" y="5229978"/>
            <a:ext cx="3441074" cy="3324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Crie/salve </a:t>
            </a:r>
            <a:r>
              <a:rPr lang="pt-BR" sz="1400" dirty="0">
                <a:solidFill>
                  <a:schemeClr val="tx1"/>
                </a:solidFill>
              </a:rPr>
              <a:t>o projeto no diretório </a:t>
            </a:r>
            <a:r>
              <a:rPr lang="pt-BR" sz="1400" b="1" dirty="0">
                <a:solidFill>
                  <a:schemeClr val="tx1"/>
                </a:solidFill>
              </a:rPr>
              <a:t>C:/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EEAD39A-C8A2-551A-F9D5-12EB54A858A6}"/>
              </a:ext>
            </a:extLst>
          </p:cNvPr>
          <p:cNvSpPr/>
          <p:nvPr/>
        </p:nvSpPr>
        <p:spPr>
          <a:xfrm>
            <a:off x="11078962" y="5069520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C6965B-0A57-8522-A5AB-F65B91D9F304}"/>
              </a:ext>
            </a:extLst>
          </p:cNvPr>
          <p:cNvSpPr/>
          <p:nvPr/>
        </p:nvSpPr>
        <p:spPr>
          <a:xfrm>
            <a:off x="9977389" y="5794440"/>
            <a:ext cx="743951" cy="401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0BA602E-17C3-A3FD-97E2-4D81C0C8E5AE}"/>
              </a:ext>
            </a:extLst>
          </p:cNvPr>
          <p:cNvSpPr/>
          <p:nvPr/>
        </p:nvSpPr>
        <p:spPr>
          <a:xfrm>
            <a:off x="9799786" y="6128938"/>
            <a:ext cx="256854" cy="2568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512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5A446-026D-1236-634B-079EB434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102AF-FD13-632E-3E09-B23C74C43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8A9DFD-D2B5-7CEC-853E-F4AAFF43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23</a:t>
            </a:fld>
            <a:endParaRPr lang="en-US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5CF402-965E-ABFC-366D-2144547BAD4F}"/>
              </a:ext>
            </a:extLst>
          </p:cNvPr>
          <p:cNvGrpSpPr/>
          <p:nvPr/>
        </p:nvGrpSpPr>
        <p:grpSpPr>
          <a:xfrm>
            <a:off x="3101605" y="633573"/>
            <a:ext cx="5988789" cy="6077366"/>
            <a:chOff x="107211" y="644109"/>
            <a:chExt cx="5988789" cy="6077366"/>
          </a:xfrm>
        </p:grpSpPr>
        <p:pic>
          <p:nvPicPr>
            <p:cNvPr id="13" name="Imagem 12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EBCE92C7-3E14-892D-61FA-A6441FA3A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1" y="1485900"/>
              <a:ext cx="5988789" cy="5235575"/>
            </a:xfrm>
            <a:prstGeom prst="rect">
              <a:avLst/>
            </a:prstGeom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376CFB25-47B1-D9AD-423E-D06DC0647986}"/>
                </a:ext>
              </a:extLst>
            </p:cNvPr>
            <p:cNvSpPr/>
            <p:nvPr/>
          </p:nvSpPr>
          <p:spPr>
            <a:xfrm>
              <a:off x="1528734" y="644109"/>
              <a:ext cx="3145742" cy="68810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O </a:t>
              </a:r>
              <a:r>
                <a:rPr lang="pt-BR" sz="1400" dirty="0" err="1">
                  <a:solidFill>
                    <a:schemeClr val="tx1"/>
                  </a:solidFill>
                </a:rPr>
                <a:t>Rproj</a:t>
              </a:r>
              <a:r>
                <a:rPr lang="pt-BR" sz="1400" dirty="0">
                  <a:solidFill>
                    <a:schemeClr val="tx1"/>
                  </a:solidFill>
                </a:rPr>
                <a:t> irá atualizar e mostrará a estrutura do projeto criado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08EF76CF-E12D-421E-E1AE-4A2215835428}"/>
                </a:ext>
              </a:extLst>
            </p:cNvPr>
            <p:cNvSpPr/>
            <p:nvPr/>
          </p:nvSpPr>
          <p:spPr>
            <a:xfrm>
              <a:off x="3202032" y="4103687"/>
              <a:ext cx="2893968" cy="26177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9BE2001B-064C-EEC8-8D4E-93F7CA69143B}"/>
                </a:ext>
              </a:extLst>
            </p:cNvPr>
            <p:cNvSpPr/>
            <p:nvPr/>
          </p:nvSpPr>
          <p:spPr>
            <a:xfrm>
              <a:off x="3227492" y="4541837"/>
              <a:ext cx="1446984" cy="3044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2644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B0F8-6C7A-BFBB-B855-6965C248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9CEAF-340B-4DB1-1228-FB0B9F79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649D7F-C191-0D2E-4A20-A8370E37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24</a:t>
            </a:fld>
            <a:endParaRPr lang="en-US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6B72803-9BA5-44B8-E535-11F50DCAC4F6}"/>
              </a:ext>
            </a:extLst>
          </p:cNvPr>
          <p:cNvGrpSpPr/>
          <p:nvPr/>
        </p:nvGrpSpPr>
        <p:grpSpPr>
          <a:xfrm>
            <a:off x="107211" y="644109"/>
            <a:ext cx="5988789" cy="6077366"/>
            <a:chOff x="3101605" y="633573"/>
            <a:chExt cx="5988789" cy="6077366"/>
          </a:xfrm>
        </p:grpSpPr>
        <p:pic>
          <p:nvPicPr>
            <p:cNvPr id="13" name="Imagem 12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85C13840-05F1-F36C-5A89-2BCBBEE26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1605" y="1475364"/>
              <a:ext cx="5988789" cy="5235575"/>
            </a:xfrm>
            <a:prstGeom prst="rect">
              <a:avLst/>
            </a:prstGeom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E368A527-92ED-22D9-EB87-4B503F82C0C4}"/>
                </a:ext>
              </a:extLst>
            </p:cNvPr>
            <p:cNvSpPr/>
            <p:nvPr/>
          </p:nvSpPr>
          <p:spPr>
            <a:xfrm>
              <a:off x="4523128" y="633573"/>
              <a:ext cx="3145742" cy="68810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Criando pastas nesse projeto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462FA66C-3080-2F70-354F-EB16C045AC0E}"/>
                </a:ext>
              </a:extLst>
            </p:cNvPr>
            <p:cNvSpPr/>
            <p:nvPr/>
          </p:nvSpPr>
          <p:spPr>
            <a:xfrm>
              <a:off x="6221886" y="3947083"/>
              <a:ext cx="206484" cy="18379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E8DEAF-665B-B889-C97A-0FFD6E14578E}"/>
              </a:ext>
            </a:extLst>
          </p:cNvPr>
          <p:cNvSpPr txBox="1"/>
          <p:nvPr/>
        </p:nvSpPr>
        <p:spPr>
          <a:xfrm>
            <a:off x="6358758" y="1649295"/>
            <a:ext cx="54653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Clique no ícone destacado e crie as seguintes pastas:</a:t>
            </a:r>
          </a:p>
          <a:p>
            <a:endParaRPr lang="pt-BR" sz="2400" dirty="0"/>
          </a:p>
          <a:p>
            <a:r>
              <a:rPr lang="pt-BR" sz="2400" b="1" dirty="0"/>
              <a:t>00_dados</a:t>
            </a:r>
          </a:p>
          <a:p>
            <a:r>
              <a:rPr lang="pt-BR" sz="2400" b="1" dirty="0"/>
              <a:t>01_scripts</a:t>
            </a:r>
          </a:p>
          <a:p>
            <a:r>
              <a:rPr lang="pt-BR" sz="2400" b="1" dirty="0"/>
              <a:t>02_figuras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91599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3C67E-F378-4E5A-180D-67FBAF87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DF81E-38D9-AA16-60C9-607665DA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435698-56F2-76E3-D20F-33D67E4E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25</a:t>
            </a:fld>
            <a:endParaRPr lang="en-US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3A7D32C9-911F-08B0-2D4F-83FF43EB1C91}"/>
              </a:ext>
            </a:extLst>
          </p:cNvPr>
          <p:cNvGrpSpPr/>
          <p:nvPr/>
        </p:nvGrpSpPr>
        <p:grpSpPr>
          <a:xfrm>
            <a:off x="107211" y="644109"/>
            <a:ext cx="5988789" cy="6077366"/>
            <a:chOff x="3101605" y="633573"/>
            <a:chExt cx="5988789" cy="6077366"/>
          </a:xfrm>
        </p:grpSpPr>
        <p:pic>
          <p:nvPicPr>
            <p:cNvPr id="13" name="Imagem 12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D9BE5EF2-25C5-4336-9B06-A9862AD2F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1605" y="1475364"/>
              <a:ext cx="5988789" cy="5235575"/>
            </a:xfrm>
            <a:prstGeom prst="rect">
              <a:avLst/>
            </a:prstGeom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08CEC957-6BA8-B55F-F40F-CFAE94A18CB9}"/>
                </a:ext>
              </a:extLst>
            </p:cNvPr>
            <p:cNvSpPr/>
            <p:nvPr/>
          </p:nvSpPr>
          <p:spPr>
            <a:xfrm>
              <a:off x="4523128" y="633573"/>
              <a:ext cx="3145742" cy="68810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Criando pastas nesse projeto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971209C5-2309-DB9C-BBF6-2321D7B70E3A}"/>
                </a:ext>
              </a:extLst>
            </p:cNvPr>
            <p:cNvSpPr/>
            <p:nvPr/>
          </p:nvSpPr>
          <p:spPr>
            <a:xfrm>
              <a:off x="6221886" y="3947083"/>
              <a:ext cx="206484" cy="18379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B00615-A200-4D99-BF5E-5A04D9E761ED}"/>
              </a:ext>
            </a:extLst>
          </p:cNvPr>
          <p:cNvSpPr txBox="1"/>
          <p:nvPr/>
        </p:nvSpPr>
        <p:spPr>
          <a:xfrm>
            <a:off x="6358758" y="1649295"/>
            <a:ext cx="54653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Clique no ícone destacado e crie as seguintes pastas:</a:t>
            </a:r>
          </a:p>
          <a:p>
            <a:endParaRPr lang="pt-BR" sz="2400" dirty="0"/>
          </a:p>
          <a:p>
            <a:r>
              <a:rPr lang="pt-BR" sz="2400" b="1" dirty="0"/>
              <a:t>00_dados</a:t>
            </a:r>
          </a:p>
          <a:p>
            <a:r>
              <a:rPr lang="pt-BR" sz="2400" b="1" dirty="0"/>
              <a:t>01_scripts</a:t>
            </a:r>
          </a:p>
          <a:p>
            <a:r>
              <a:rPr lang="pt-BR" sz="2400" b="1" dirty="0"/>
              <a:t>02_figuras</a:t>
            </a:r>
            <a:endParaRPr lang="en-US" sz="2400" b="1" dirty="0"/>
          </a:p>
        </p:txBody>
      </p:sp>
      <p:pic>
        <p:nvPicPr>
          <p:cNvPr id="7" name="Imagem 6" descr="Tela de computador com ícones&#10;&#10;O conteúdo gerado por IA pode estar incorreto.">
            <a:extLst>
              <a:ext uri="{FF2B5EF4-FFF2-40B4-BE49-F238E27FC236}">
                <a16:creationId xmlns:a16="http://schemas.microsoft.com/office/drawing/2014/main" id="{449441F8-D8C0-F621-2F2E-915A9ADF1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238" y="2913791"/>
            <a:ext cx="3409924" cy="340992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BD3F96F-F31A-AF11-18AF-89B4EC249AAC}"/>
              </a:ext>
            </a:extLst>
          </p:cNvPr>
          <p:cNvSpPr/>
          <p:nvPr/>
        </p:nvSpPr>
        <p:spPr>
          <a:xfrm>
            <a:off x="8277237" y="3865719"/>
            <a:ext cx="3409923" cy="832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14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42B9-3E06-B49E-F076-F4492950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06C10-A1B5-CB79-5640-1FBFCB76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402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Como criar um RProject?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DCDE12-B5C2-23FD-58D1-ABA71DE2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FC215B-A533-78B3-4C1B-B79E1E4AA295}"/>
              </a:ext>
            </a:extLst>
          </p:cNvPr>
          <p:cNvGrpSpPr/>
          <p:nvPr/>
        </p:nvGrpSpPr>
        <p:grpSpPr>
          <a:xfrm>
            <a:off x="107211" y="1485900"/>
            <a:ext cx="5988789" cy="5235575"/>
            <a:chOff x="3101605" y="1475364"/>
            <a:chExt cx="5988789" cy="5235575"/>
          </a:xfrm>
        </p:grpSpPr>
        <p:pic>
          <p:nvPicPr>
            <p:cNvPr id="13" name="Imagem 12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BE69A868-21FD-3390-BE45-EF12A18B0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1605" y="1475364"/>
              <a:ext cx="5988789" cy="5235575"/>
            </a:xfrm>
            <a:prstGeom prst="rect">
              <a:avLst/>
            </a:prstGeom>
          </p:spPr>
        </p:pic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7DBD4AA3-3923-C27E-0F0D-A048ADB14F7C}"/>
                </a:ext>
              </a:extLst>
            </p:cNvPr>
            <p:cNvSpPr/>
            <p:nvPr/>
          </p:nvSpPr>
          <p:spPr>
            <a:xfrm>
              <a:off x="6221886" y="3947083"/>
              <a:ext cx="206484" cy="18379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A1B194-A3C2-A054-B8EF-0BB2FF427444}"/>
              </a:ext>
            </a:extLst>
          </p:cNvPr>
          <p:cNvSpPr txBox="1"/>
          <p:nvPr/>
        </p:nvSpPr>
        <p:spPr>
          <a:xfrm>
            <a:off x="6243145" y="2143281"/>
            <a:ext cx="57205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Usamos essa estrutura de pastas para </a:t>
            </a:r>
            <a:r>
              <a:rPr lang="pt-BR" sz="2000" b="1" dirty="0"/>
              <a:t>manter a consistência </a:t>
            </a:r>
            <a:r>
              <a:rPr lang="pt-BR" sz="2000" dirty="0"/>
              <a:t>de nomes, e para nos </a:t>
            </a:r>
            <a:r>
              <a:rPr lang="pt-BR" sz="2000" b="1" dirty="0"/>
              <a:t>organizar</a:t>
            </a:r>
            <a:r>
              <a:rPr lang="pt-BR" sz="2000" dirty="0"/>
              <a:t> onde salvar cada arquivos.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Trabalha com programação, R, e em equipe </a:t>
            </a:r>
            <a:r>
              <a:rPr lang="pt-BR" sz="2000" b="1" dirty="0"/>
              <a:t>requer uma boa organização</a:t>
            </a:r>
            <a:r>
              <a:rPr lang="pt-BR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Dessa forma conseguimos compartilhar  e </a:t>
            </a:r>
            <a:r>
              <a:rPr lang="pt-BR" sz="2000" b="1" dirty="0"/>
              <a:t>garantir o funcionamento </a:t>
            </a:r>
            <a:r>
              <a:rPr lang="pt-BR" sz="2000" dirty="0"/>
              <a:t>dos scripts.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 err="1"/>
              <a:t>Ex</a:t>
            </a:r>
            <a:r>
              <a:rPr lang="pt-BR" sz="2000" b="1" dirty="0"/>
              <a:t>: Nos seus artigos você precisarão compartilhar o </a:t>
            </a:r>
            <a:r>
              <a:rPr lang="pt-BR" sz="2000" b="1" dirty="0" err="1"/>
              <a:t>Rproject</a:t>
            </a:r>
            <a:r>
              <a:rPr lang="pt-BR" sz="2000" b="1" dirty="0"/>
              <a:t>.</a:t>
            </a:r>
            <a:endParaRPr lang="en-US" sz="2000" b="1" dirty="0"/>
          </a:p>
        </p:txBody>
      </p:sp>
      <p:pic>
        <p:nvPicPr>
          <p:cNvPr id="11" name="Imagem 10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26C26B4-881C-74BE-AFA9-A96C44EFB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70" y="1485900"/>
            <a:ext cx="5998325" cy="52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16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A40FF-938F-DDA1-0A4B-362DF90E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72A52-8EFC-D62F-B8E2-ECDDBA7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24" y="-76901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E agora?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7F20F5-8FAC-047A-94A0-02642F741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75848C-C4B6-EAA4-844E-A068F840D0A3}"/>
              </a:ext>
            </a:extLst>
          </p:cNvPr>
          <p:cNvSpPr txBox="1"/>
          <p:nvPr/>
        </p:nvSpPr>
        <p:spPr>
          <a:xfrm>
            <a:off x="472966" y="1566230"/>
            <a:ext cx="108808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Agora que vocês criaram seu próprio RProject, vocês podem seguir/acompanhar esse curso criando seus scripts e outputs, ou usar a pasta:</a:t>
            </a:r>
          </a:p>
          <a:p>
            <a:endParaRPr lang="pt-BR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400" dirty="0">
                <a:hlinkClick r:id="rId2"/>
              </a:rPr>
              <a:t>LABIC_curso_introducao_a_manejo_visualizacao_e_analise_de_dados_com_R</a:t>
            </a:r>
            <a:r>
              <a:rPr lang="pt-BR" sz="2400" dirty="0"/>
              <a:t>que clonaram ontem do GitHub. </a:t>
            </a:r>
          </a:p>
          <a:p>
            <a:endParaRPr lang="pt-BR" sz="2400" dirty="0"/>
          </a:p>
          <a:p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Ela também é um RProject e ambas devem estar no diretório </a:t>
            </a:r>
            <a:r>
              <a:rPr lang="pt-BR" sz="2400" b="1" dirty="0"/>
              <a:t>C: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90205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925</Words>
  <Application>Microsoft Office PowerPoint</Application>
  <PresentationFormat>Widescreen</PresentationFormat>
  <Paragraphs>165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Tema do Office</vt:lpstr>
      <vt:lpstr>R Project</vt:lpstr>
      <vt:lpstr>O que é?</vt:lpstr>
      <vt:lpstr>O que é?</vt:lpstr>
      <vt:lpstr>O que é?</vt:lpstr>
      <vt:lpstr>O que é?</vt:lpstr>
      <vt:lpstr>O que é?</vt:lpstr>
      <vt:lpstr>Por que usar ele?</vt:lpstr>
      <vt:lpstr>Por que usar ele?</vt:lpstr>
      <vt:lpstr>Por que usar ele?</vt:lpstr>
      <vt:lpstr>Por que usar ele?</vt:lpstr>
      <vt:lpstr>Por que usar ele?</vt:lpstr>
      <vt:lpstr>Como ele funciona?</vt:lpstr>
      <vt:lpstr>Como ele funciona?</vt:lpstr>
      <vt:lpstr>Como ele funciona?</vt:lpstr>
      <vt:lpstr>Como ele funciona?</vt:lpstr>
      <vt:lpstr>Como criar um RProject?</vt:lpstr>
      <vt:lpstr>Como criar um RProject?</vt:lpstr>
      <vt:lpstr>Como criar um RProject?</vt:lpstr>
      <vt:lpstr>Como criar um RProject?</vt:lpstr>
      <vt:lpstr>Como criar um RProject?</vt:lpstr>
      <vt:lpstr>Como criar um RProject?</vt:lpstr>
      <vt:lpstr>Como criar um RProject?</vt:lpstr>
      <vt:lpstr>Como criar um RProject?</vt:lpstr>
      <vt:lpstr>Como criar um RProject?</vt:lpstr>
      <vt:lpstr>Como criar um RProject?</vt:lpstr>
      <vt:lpstr>Como criar um RProject?</vt:lpstr>
      <vt:lpstr>E agora?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Lautenschlager Rodrigues, Lais</dc:creator>
  <cp:lastModifiedBy>Lautenschlager Rodrigues, Lais</cp:lastModifiedBy>
  <cp:revision>24</cp:revision>
  <dcterms:created xsi:type="dcterms:W3CDTF">2025-12-24T15:52:49Z</dcterms:created>
  <dcterms:modified xsi:type="dcterms:W3CDTF">2025-12-26T14:15:24Z</dcterms:modified>
</cp:coreProperties>
</file>